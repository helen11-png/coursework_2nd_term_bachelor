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7" r:id="rId2"/>
    <p:sldId id="259" r:id="rId3"/>
    <p:sldId id="262" r:id="rId4"/>
    <p:sldId id="263" r:id="rId5"/>
    <p:sldId id="265" r:id="rId6"/>
    <p:sldId id="264" r:id="rId7"/>
    <p:sldId id="276" r:id="rId8"/>
    <p:sldId id="267" r:id="rId9"/>
    <p:sldId id="268" r:id="rId10"/>
    <p:sldId id="269" r:id="rId11"/>
    <p:sldId id="270" r:id="rId12"/>
    <p:sldId id="277" r:id="rId13"/>
    <p:sldId id="273" r:id="rId14"/>
    <p:sldId id="274" r:id="rId15"/>
    <p:sldId id="278" r:id="rId16"/>
    <p:sldId id="27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1pPr>
    <a:lvl2pPr marL="0" marR="0" indent="0" algn="l" defTabSz="2438338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2pPr>
    <a:lvl3pPr marL="0" marR="0" indent="0" algn="l" defTabSz="2438338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3pPr>
    <a:lvl4pPr marL="0" marR="0" indent="0" algn="l" defTabSz="2438338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4pPr>
    <a:lvl5pPr marL="0" marR="0" indent="0" algn="l" defTabSz="2438338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5pPr>
    <a:lvl6pPr marL="0" marR="0" indent="0" algn="l" defTabSz="2438338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6pPr>
    <a:lvl7pPr marL="0" marR="0" indent="0" algn="l" defTabSz="2438338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7pPr>
    <a:lvl8pPr marL="0" marR="0" indent="0" algn="l" defTabSz="2438338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8pPr>
    <a:lvl9pPr marL="0" marR="0" indent="0" algn="l" defTabSz="2438338" rtl="0" fontAlgn="auto" latinLnBrk="0" hangingPunct="0">
      <a:lnSpc>
        <a:spcPct val="12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B2D5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339" autoAdjust="0"/>
    <p:restoredTop sz="94508" autoAdjust="0"/>
  </p:normalViewPr>
  <p:slideViewPr>
    <p:cSldViewPr snapToGrid="0">
      <p:cViewPr>
        <p:scale>
          <a:sx n="33" d="100"/>
          <a:sy n="33" d="100"/>
        </p:scale>
        <p:origin x="-441" y="-279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10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6DD0B3-361F-48DB-9C3C-A78042279CC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48598DA-CB49-474D-A72A-F342D3E647C7}">
      <dgm:prSet phldrT="[Текст]" phldr="0"/>
      <dgm:spPr/>
      <dgm:t>
        <a:bodyPr/>
        <a:lstStyle/>
        <a:p>
          <a:r>
            <a:rPr lang="en-US" b="1" dirty="0"/>
            <a:t>MoSCoW</a:t>
          </a:r>
          <a:endParaRPr lang="ru-RU" b="1" dirty="0"/>
        </a:p>
      </dgm:t>
    </dgm:pt>
    <dgm:pt modelId="{6D36FD72-18D9-4FBC-AFC3-30A90CBA5421}" type="parTrans" cxnId="{F4B7965D-D9EE-4FF5-AFDF-25C58C99B083}">
      <dgm:prSet/>
      <dgm:spPr/>
      <dgm:t>
        <a:bodyPr/>
        <a:lstStyle/>
        <a:p>
          <a:endParaRPr lang="ru-RU"/>
        </a:p>
      </dgm:t>
    </dgm:pt>
    <dgm:pt modelId="{B347D868-FEC0-4B0E-8937-AFE1307956AD}" type="sibTrans" cxnId="{F4B7965D-D9EE-4FF5-AFDF-25C58C99B083}">
      <dgm:prSet/>
      <dgm:spPr/>
      <dgm:t>
        <a:bodyPr/>
        <a:lstStyle/>
        <a:p>
          <a:endParaRPr lang="ru-RU"/>
        </a:p>
      </dgm:t>
    </dgm:pt>
    <dgm:pt modelId="{45EF1191-ED5B-4424-8DFA-97D903F52F46}">
      <dgm:prSet phldrT="[Текст]" phldr="0" custT="1"/>
      <dgm:spPr/>
      <dgm:t>
        <a:bodyPr anchor="t"/>
        <a:lstStyle/>
        <a:p>
          <a:pPr algn="l">
            <a:buNone/>
          </a:pPr>
          <a:endParaRPr lang="en-US" sz="3600" b="1" dirty="0"/>
        </a:p>
        <a:p>
          <a:pPr algn="l">
            <a:buNone/>
          </a:pPr>
          <a:r>
            <a:rPr lang="en-US" sz="4400" b="1" dirty="0" smtClean="0"/>
            <a:t>Must</a:t>
          </a:r>
        </a:p>
        <a:p>
          <a:pPr algn="l">
            <a:buNone/>
          </a:pPr>
          <a:r>
            <a:rPr lang="ru-RU" sz="3300" b="1" dirty="0" smtClean="0"/>
            <a:t>Создание заявок</a:t>
          </a:r>
          <a:endParaRPr lang="en-US" sz="3300" b="1" dirty="0" smtClean="0"/>
        </a:p>
        <a:p>
          <a:pPr algn="l">
            <a:buNone/>
          </a:pPr>
          <a:r>
            <a:rPr lang="ru-RU" sz="3300" b="1" dirty="0" smtClean="0"/>
            <a:t>Согласование</a:t>
          </a:r>
          <a:endParaRPr lang="en-US" sz="3300" b="1" dirty="0" smtClean="0"/>
        </a:p>
        <a:p>
          <a:pPr algn="l">
            <a:buNone/>
          </a:pPr>
          <a:r>
            <a:rPr lang="ru-RU" sz="3300" b="1" dirty="0" smtClean="0"/>
            <a:t>Статусы</a:t>
          </a:r>
          <a:endParaRPr lang="ru-RU" sz="3300" b="1" dirty="0"/>
        </a:p>
      </dgm:t>
    </dgm:pt>
    <dgm:pt modelId="{A5C59A8D-0CC0-4524-9B46-5D6F776073A6}" type="parTrans" cxnId="{C79B9A0C-ADF4-4789-9508-16671E0025F2}">
      <dgm:prSet/>
      <dgm:spPr/>
      <dgm:t>
        <a:bodyPr/>
        <a:lstStyle/>
        <a:p>
          <a:endParaRPr lang="ru-RU"/>
        </a:p>
      </dgm:t>
    </dgm:pt>
    <dgm:pt modelId="{4113767A-511E-458A-BCC0-644A29590BA2}" type="sibTrans" cxnId="{C79B9A0C-ADF4-4789-9508-16671E0025F2}">
      <dgm:prSet/>
      <dgm:spPr/>
      <dgm:t>
        <a:bodyPr/>
        <a:lstStyle/>
        <a:p>
          <a:endParaRPr lang="ru-RU"/>
        </a:p>
      </dgm:t>
    </dgm:pt>
    <dgm:pt modelId="{D8F9EA61-21F3-4122-8A99-A7E5B4C8AD7E}">
      <dgm:prSet phldrT="[Текст]" phldr="0" custT="1"/>
      <dgm:spPr/>
      <dgm:t>
        <a:bodyPr anchor="t"/>
        <a:lstStyle/>
        <a:p>
          <a:pPr algn="l"/>
          <a:endParaRPr lang="en-US" sz="3600" b="1" dirty="0"/>
        </a:p>
        <a:p>
          <a:pPr algn="l"/>
          <a:r>
            <a:rPr lang="en-US" sz="4400" b="1" dirty="0"/>
            <a:t>Could</a:t>
          </a:r>
          <a:endParaRPr lang="en-US" sz="3600" b="1" dirty="0"/>
        </a:p>
        <a:p>
          <a:pPr algn="l"/>
          <a:r>
            <a:rPr lang="ru-RU" sz="3300" b="1" dirty="0" smtClean="0"/>
            <a:t>Расширенная аналитика</a:t>
          </a:r>
          <a:endParaRPr lang="en-US" sz="3300" b="1" dirty="0" smtClean="0"/>
        </a:p>
        <a:p>
          <a:pPr algn="l"/>
          <a:r>
            <a:rPr lang="ru-RU" sz="3300" b="1" dirty="0" smtClean="0"/>
            <a:t>Шаблон </a:t>
          </a:r>
          <a:r>
            <a:rPr lang="ru-RU" sz="3300" b="1" dirty="0"/>
            <a:t>заявления</a:t>
          </a:r>
        </a:p>
      </dgm:t>
    </dgm:pt>
    <dgm:pt modelId="{B1AA2295-DA2F-466C-90B4-BFDA75C39DB2}" type="parTrans" cxnId="{A014B519-D115-4017-83DC-95B66CDB5529}">
      <dgm:prSet/>
      <dgm:spPr/>
      <dgm:t>
        <a:bodyPr/>
        <a:lstStyle/>
        <a:p>
          <a:endParaRPr lang="ru-RU"/>
        </a:p>
      </dgm:t>
    </dgm:pt>
    <dgm:pt modelId="{E01CCD35-63DD-4138-8BF6-4A16E6481853}" type="sibTrans" cxnId="{A014B519-D115-4017-83DC-95B66CDB5529}">
      <dgm:prSet/>
      <dgm:spPr/>
      <dgm:t>
        <a:bodyPr/>
        <a:lstStyle/>
        <a:p>
          <a:endParaRPr lang="ru-RU"/>
        </a:p>
      </dgm:t>
    </dgm:pt>
    <dgm:pt modelId="{D864D0D0-01A6-4F8A-9521-E14885ADDABE}">
      <dgm:prSet phldrT="[Текст]" phldr="0" custT="1"/>
      <dgm:spPr/>
      <dgm:t>
        <a:bodyPr anchor="t"/>
        <a:lstStyle/>
        <a:p>
          <a:pPr algn="l"/>
          <a:r>
            <a:rPr lang="en-US" sz="4400" b="1" dirty="0"/>
            <a:t>Should</a:t>
          </a:r>
        </a:p>
        <a:p>
          <a:pPr algn="l"/>
          <a:r>
            <a:rPr lang="ru-RU" sz="3300" b="1" dirty="0"/>
            <a:t>Уведомления</a:t>
          </a:r>
        </a:p>
        <a:p>
          <a:pPr algn="l"/>
          <a:r>
            <a:rPr lang="ru-RU" sz="3300" b="1" dirty="0"/>
            <a:t>Отчеты</a:t>
          </a:r>
        </a:p>
        <a:p>
          <a:pPr algn="l"/>
          <a:r>
            <a:rPr lang="ru-RU" sz="3300" b="1" dirty="0"/>
            <a:t>Платформа для взаимодействия </a:t>
          </a:r>
          <a:r>
            <a:rPr lang="en-US" sz="3300" b="1" dirty="0"/>
            <a:t>HR</a:t>
          </a:r>
          <a:r>
            <a:rPr lang="ru-RU" sz="3300" b="1" dirty="0"/>
            <a:t> и работников</a:t>
          </a:r>
        </a:p>
        <a:p>
          <a:pPr algn="l"/>
          <a:r>
            <a:rPr lang="ru-RU" sz="3300" b="1" dirty="0"/>
            <a:t>Аналитика продуктивности</a:t>
          </a:r>
        </a:p>
      </dgm:t>
    </dgm:pt>
    <dgm:pt modelId="{20B6A632-FAC5-40ED-8608-1BDA13E6BF9B}" type="parTrans" cxnId="{01EDA30A-2E53-4A2A-8112-5358C7AA5AF0}">
      <dgm:prSet/>
      <dgm:spPr/>
      <dgm:t>
        <a:bodyPr/>
        <a:lstStyle/>
        <a:p>
          <a:endParaRPr lang="ru-RU"/>
        </a:p>
      </dgm:t>
    </dgm:pt>
    <dgm:pt modelId="{82090EAA-9E81-4EF1-BA19-65265C659710}" type="sibTrans" cxnId="{01EDA30A-2E53-4A2A-8112-5358C7AA5AF0}">
      <dgm:prSet/>
      <dgm:spPr/>
      <dgm:t>
        <a:bodyPr/>
        <a:lstStyle/>
        <a:p>
          <a:endParaRPr lang="ru-RU"/>
        </a:p>
      </dgm:t>
    </dgm:pt>
    <dgm:pt modelId="{C7C95F1F-3E35-48E0-AC4F-B06F5B525E20}">
      <dgm:prSet phldrT="[Текст]" phldr="0" custT="1"/>
      <dgm:spPr/>
      <dgm:t>
        <a:bodyPr anchor="t"/>
        <a:lstStyle/>
        <a:p>
          <a:pPr algn="l"/>
          <a:r>
            <a:rPr lang="en-US" sz="4400" b="1" dirty="0"/>
            <a:t>Won’t</a:t>
          </a:r>
        </a:p>
        <a:p>
          <a:pPr algn="l"/>
          <a:r>
            <a:rPr lang="ru-RU" sz="3300" b="1" dirty="0"/>
            <a:t>Интеграции с реальными системами</a:t>
          </a:r>
        </a:p>
        <a:p>
          <a:pPr algn="l"/>
          <a:r>
            <a:rPr lang="ru-RU" sz="3300" b="1" dirty="0"/>
            <a:t>Дополнительные типы заявлений</a:t>
          </a:r>
          <a:endParaRPr lang="en-US" sz="3300" b="1" dirty="0"/>
        </a:p>
      </dgm:t>
    </dgm:pt>
    <dgm:pt modelId="{8EE0E91F-DCAB-4E5C-8A17-1C9B4C131201}" type="parTrans" cxnId="{170AB84A-CC79-4F13-A62C-04209C74457F}">
      <dgm:prSet/>
      <dgm:spPr/>
      <dgm:t>
        <a:bodyPr/>
        <a:lstStyle/>
        <a:p>
          <a:endParaRPr lang="ru-RU"/>
        </a:p>
      </dgm:t>
    </dgm:pt>
    <dgm:pt modelId="{2EE07379-A918-4250-98B5-CEBD0C2B8CEF}" type="sibTrans" cxnId="{170AB84A-CC79-4F13-A62C-04209C74457F}">
      <dgm:prSet/>
      <dgm:spPr/>
      <dgm:t>
        <a:bodyPr/>
        <a:lstStyle/>
        <a:p>
          <a:endParaRPr lang="ru-RU"/>
        </a:p>
      </dgm:t>
    </dgm:pt>
    <dgm:pt modelId="{D75127DC-3A24-429B-B4E6-F8E1CA9A925B}" type="pres">
      <dgm:prSet presAssocID="{EE6DD0B3-361F-48DB-9C3C-A78042279CC7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2B682EF-3187-4986-AC86-E3A4C9F473BE}" type="pres">
      <dgm:prSet presAssocID="{EE6DD0B3-361F-48DB-9C3C-A78042279CC7}" presName="matrix" presStyleCnt="0"/>
      <dgm:spPr/>
      <dgm:t>
        <a:bodyPr/>
        <a:lstStyle/>
        <a:p>
          <a:endParaRPr lang="ru-RU"/>
        </a:p>
      </dgm:t>
    </dgm:pt>
    <dgm:pt modelId="{B0018EE2-9CCC-4450-887D-90A6539F00E1}" type="pres">
      <dgm:prSet presAssocID="{EE6DD0B3-361F-48DB-9C3C-A78042279CC7}" presName="tile1" presStyleLbl="node1" presStyleIdx="0" presStyleCnt="4" custLinFactNeighborX="-13198" custLinFactNeighborY="-362"/>
      <dgm:spPr/>
      <dgm:t>
        <a:bodyPr/>
        <a:lstStyle/>
        <a:p>
          <a:endParaRPr lang="ru-RU"/>
        </a:p>
      </dgm:t>
    </dgm:pt>
    <dgm:pt modelId="{7BD793F6-7C75-4B4E-90CE-C197F555D826}" type="pres">
      <dgm:prSet presAssocID="{EE6DD0B3-361F-48DB-9C3C-A78042279CC7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F720D2-C05D-4199-BF24-C108CEE83A1D}" type="pres">
      <dgm:prSet presAssocID="{EE6DD0B3-361F-48DB-9C3C-A78042279CC7}" presName="tile2" presStyleLbl="node1" presStyleIdx="1" presStyleCnt="4"/>
      <dgm:spPr/>
      <dgm:t>
        <a:bodyPr/>
        <a:lstStyle/>
        <a:p>
          <a:endParaRPr lang="ru-RU"/>
        </a:p>
      </dgm:t>
    </dgm:pt>
    <dgm:pt modelId="{A4DCC857-C3C7-45D1-B95E-BFEC7B4BEE12}" type="pres">
      <dgm:prSet presAssocID="{EE6DD0B3-361F-48DB-9C3C-A78042279CC7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ADE6BD-1CC1-4DD9-91FC-A2B3ED1F81B1}" type="pres">
      <dgm:prSet presAssocID="{EE6DD0B3-361F-48DB-9C3C-A78042279CC7}" presName="tile3" presStyleLbl="node1" presStyleIdx="2" presStyleCnt="4"/>
      <dgm:spPr/>
      <dgm:t>
        <a:bodyPr/>
        <a:lstStyle/>
        <a:p>
          <a:endParaRPr lang="ru-RU"/>
        </a:p>
      </dgm:t>
    </dgm:pt>
    <dgm:pt modelId="{EE736DDD-C2A2-47BE-A136-C0E0F86D0256}" type="pres">
      <dgm:prSet presAssocID="{EE6DD0B3-361F-48DB-9C3C-A78042279CC7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471EAFE-20C5-41C1-8ECC-397A82CB723F}" type="pres">
      <dgm:prSet presAssocID="{EE6DD0B3-361F-48DB-9C3C-A78042279CC7}" presName="tile4" presStyleLbl="node1" presStyleIdx="3" presStyleCnt="4"/>
      <dgm:spPr/>
      <dgm:t>
        <a:bodyPr/>
        <a:lstStyle/>
        <a:p>
          <a:endParaRPr lang="ru-RU"/>
        </a:p>
      </dgm:t>
    </dgm:pt>
    <dgm:pt modelId="{72385D29-8539-452A-AF5C-7FCE066C86A5}" type="pres">
      <dgm:prSet presAssocID="{EE6DD0B3-361F-48DB-9C3C-A78042279CC7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46CA273-934C-4A1F-8B2A-C5910549C5FC}" type="pres">
      <dgm:prSet presAssocID="{EE6DD0B3-361F-48DB-9C3C-A78042279CC7}" presName="centerTile" presStyleLbl="fgShp" presStyleIdx="0" presStyleCnt="1" custScaleX="71304" custScaleY="42924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</dgm:ptLst>
  <dgm:cxnLst>
    <dgm:cxn modelId="{170AB84A-CC79-4F13-A62C-04209C74457F}" srcId="{C48598DA-CB49-474D-A72A-F342D3E647C7}" destId="{C7C95F1F-3E35-48E0-AC4F-B06F5B525E20}" srcOrd="3" destOrd="0" parTransId="{8EE0E91F-DCAB-4E5C-8A17-1C9B4C131201}" sibTransId="{2EE07379-A918-4250-98B5-CEBD0C2B8CEF}"/>
    <dgm:cxn modelId="{B3E6EB7B-660F-4587-976B-C8BC7EBF1579}" type="presOf" srcId="{D8F9EA61-21F3-4122-8A99-A7E5B4C8AD7E}" destId="{81F720D2-C05D-4199-BF24-C108CEE83A1D}" srcOrd="0" destOrd="0" presId="urn:microsoft.com/office/officeart/2005/8/layout/matrix1"/>
    <dgm:cxn modelId="{F83DBADF-D91F-484D-B90B-EF46A6833BA7}" type="presOf" srcId="{C7C95F1F-3E35-48E0-AC4F-B06F5B525E20}" destId="{72385D29-8539-452A-AF5C-7FCE066C86A5}" srcOrd="1" destOrd="0" presId="urn:microsoft.com/office/officeart/2005/8/layout/matrix1"/>
    <dgm:cxn modelId="{FFCFB241-DD2B-4F5C-9E25-0C9ACD970D73}" type="presOf" srcId="{C7C95F1F-3E35-48E0-AC4F-B06F5B525E20}" destId="{7471EAFE-20C5-41C1-8ECC-397A82CB723F}" srcOrd="0" destOrd="0" presId="urn:microsoft.com/office/officeart/2005/8/layout/matrix1"/>
    <dgm:cxn modelId="{FB273161-9435-4C8B-8F08-22AFDA7149D4}" type="presOf" srcId="{45EF1191-ED5B-4424-8DFA-97D903F52F46}" destId="{B0018EE2-9CCC-4450-887D-90A6539F00E1}" srcOrd="0" destOrd="0" presId="urn:microsoft.com/office/officeart/2005/8/layout/matrix1"/>
    <dgm:cxn modelId="{F4B7965D-D9EE-4FF5-AFDF-25C58C99B083}" srcId="{EE6DD0B3-361F-48DB-9C3C-A78042279CC7}" destId="{C48598DA-CB49-474D-A72A-F342D3E647C7}" srcOrd="0" destOrd="0" parTransId="{6D36FD72-18D9-4FBC-AFC3-30A90CBA5421}" sibTransId="{B347D868-FEC0-4B0E-8937-AFE1307956AD}"/>
    <dgm:cxn modelId="{01EDA30A-2E53-4A2A-8112-5358C7AA5AF0}" srcId="{C48598DA-CB49-474D-A72A-F342D3E647C7}" destId="{D864D0D0-01A6-4F8A-9521-E14885ADDABE}" srcOrd="2" destOrd="0" parTransId="{20B6A632-FAC5-40ED-8608-1BDA13E6BF9B}" sibTransId="{82090EAA-9E81-4EF1-BA19-65265C659710}"/>
    <dgm:cxn modelId="{C79B9A0C-ADF4-4789-9508-16671E0025F2}" srcId="{C48598DA-CB49-474D-A72A-F342D3E647C7}" destId="{45EF1191-ED5B-4424-8DFA-97D903F52F46}" srcOrd="0" destOrd="0" parTransId="{A5C59A8D-0CC0-4524-9B46-5D6F776073A6}" sibTransId="{4113767A-511E-458A-BCC0-644A29590BA2}"/>
    <dgm:cxn modelId="{B3E4EE6B-BB42-4373-87BB-89E887607278}" type="presOf" srcId="{D864D0D0-01A6-4F8A-9521-E14885ADDABE}" destId="{EE736DDD-C2A2-47BE-A136-C0E0F86D0256}" srcOrd="1" destOrd="0" presId="urn:microsoft.com/office/officeart/2005/8/layout/matrix1"/>
    <dgm:cxn modelId="{4EBD6C9F-8657-4482-8D4E-F4838B5D551E}" type="presOf" srcId="{D864D0D0-01A6-4F8A-9521-E14885ADDABE}" destId="{3AADE6BD-1CC1-4DD9-91FC-A2B3ED1F81B1}" srcOrd="0" destOrd="0" presId="urn:microsoft.com/office/officeart/2005/8/layout/matrix1"/>
    <dgm:cxn modelId="{9E0815DC-2307-44A0-8980-C38DAAA0121D}" type="presOf" srcId="{D8F9EA61-21F3-4122-8A99-A7E5B4C8AD7E}" destId="{A4DCC857-C3C7-45D1-B95E-BFEC7B4BEE12}" srcOrd="1" destOrd="0" presId="urn:microsoft.com/office/officeart/2005/8/layout/matrix1"/>
    <dgm:cxn modelId="{AFC9BF16-7005-4B66-BF22-C2EB6FBF9F83}" type="presOf" srcId="{45EF1191-ED5B-4424-8DFA-97D903F52F46}" destId="{7BD793F6-7C75-4B4E-90CE-C197F555D826}" srcOrd="1" destOrd="0" presId="urn:microsoft.com/office/officeart/2005/8/layout/matrix1"/>
    <dgm:cxn modelId="{918F651D-0F27-4FE7-A54A-31150D7F2BC9}" type="presOf" srcId="{C48598DA-CB49-474D-A72A-F342D3E647C7}" destId="{946CA273-934C-4A1F-8B2A-C5910549C5FC}" srcOrd="0" destOrd="0" presId="urn:microsoft.com/office/officeart/2005/8/layout/matrix1"/>
    <dgm:cxn modelId="{345E945A-BDE5-44E5-9D60-F3EE40BD981A}" type="presOf" srcId="{EE6DD0B3-361F-48DB-9C3C-A78042279CC7}" destId="{D75127DC-3A24-429B-B4E6-F8E1CA9A925B}" srcOrd="0" destOrd="0" presId="urn:microsoft.com/office/officeart/2005/8/layout/matrix1"/>
    <dgm:cxn modelId="{A014B519-D115-4017-83DC-95B66CDB5529}" srcId="{C48598DA-CB49-474D-A72A-F342D3E647C7}" destId="{D8F9EA61-21F3-4122-8A99-A7E5B4C8AD7E}" srcOrd="1" destOrd="0" parTransId="{B1AA2295-DA2F-466C-90B4-BFDA75C39DB2}" sibTransId="{E01CCD35-63DD-4138-8BF6-4A16E6481853}"/>
    <dgm:cxn modelId="{B41A7B6A-D182-41D5-8468-E04F55AD64E0}" type="presParOf" srcId="{D75127DC-3A24-429B-B4E6-F8E1CA9A925B}" destId="{C2B682EF-3187-4986-AC86-E3A4C9F473BE}" srcOrd="0" destOrd="0" presId="urn:microsoft.com/office/officeart/2005/8/layout/matrix1"/>
    <dgm:cxn modelId="{E50B57AD-049E-4985-A6A8-671820BD51A6}" type="presParOf" srcId="{C2B682EF-3187-4986-AC86-E3A4C9F473BE}" destId="{B0018EE2-9CCC-4450-887D-90A6539F00E1}" srcOrd="0" destOrd="0" presId="urn:microsoft.com/office/officeart/2005/8/layout/matrix1"/>
    <dgm:cxn modelId="{F33B017A-E36F-46CC-8DE1-8AE8B17B4EA5}" type="presParOf" srcId="{C2B682EF-3187-4986-AC86-E3A4C9F473BE}" destId="{7BD793F6-7C75-4B4E-90CE-C197F555D826}" srcOrd="1" destOrd="0" presId="urn:microsoft.com/office/officeart/2005/8/layout/matrix1"/>
    <dgm:cxn modelId="{99CD6503-A7FA-4C44-ADC5-E8F98B2699FB}" type="presParOf" srcId="{C2B682EF-3187-4986-AC86-E3A4C9F473BE}" destId="{81F720D2-C05D-4199-BF24-C108CEE83A1D}" srcOrd="2" destOrd="0" presId="urn:microsoft.com/office/officeart/2005/8/layout/matrix1"/>
    <dgm:cxn modelId="{264CD5F0-3441-4388-B373-25B3BD94E647}" type="presParOf" srcId="{C2B682EF-3187-4986-AC86-E3A4C9F473BE}" destId="{A4DCC857-C3C7-45D1-B95E-BFEC7B4BEE12}" srcOrd="3" destOrd="0" presId="urn:microsoft.com/office/officeart/2005/8/layout/matrix1"/>
    <dgm:cxn modelId="{2EE9FDDB-6452-452A-BAEB-84016B881425}" type="presParOf" srcId="{C2B682EF-3187-4986-AC86-E3A4C9F473BE}" destId="{3AADE6BD-1CC1-4DD9-91FC-A2B3ED1F81B1}" srcOrd="4" destOrd="0" presId="urn:microsoft.com/office/officeart/2005/8/layout/matrix1"/>
    <dgm:cxn modelId="{38841D55-6BE1-4947-9237-314DAA3CB3E3}" type="presParOf" srcId="{C2B682EF-3187-4986-AC86-E3A4C9F473BE}" destId="{EE736DDD-C2A2-47BE-A136-C0E0F86D0256}" srcOrd="5" destOrd="0" presId="urn:microsoft.com/office/officeart/2005/8/layout/matrix1"/>
    <dgm:cxn modelId="{1E2A6877-76A6-4543-BD83-D7605FC20E9E}" type="presParOf" srcId="{C2B682EF-3187-4986-AC86-E3A4C9F473BE}" destId="{7471EAFE-20C5-41C1-8ECC-397A82CB723F}" srcOrd="6" destOrd="0" presId="urn:microsoft.com/office/officeart/2005/8/layout/matrix1"/>
    <dgm:cxn modelId="{74AD509B-EDDF-4E80-90BC-547714560D36}" type="presParOf" srcId="{C2B682EF-3187-4986-AC86-E3A4C9F473BE}" destId="{72385D29-8539-452A-AF5C-7FCE066C86A5}" srcOrd="7" destOrd="0" presId="urn:microsoft.com/office/officeart/2005/8/layout/matrix1"/>
    <dgm:cxn modelId="{237CEF37-3762-4996-83CC-866DCB9C4F8C}" type="presParOf" srcId="{D75127DC-3A24-429B-B4E6-F8E1CA9A925B}" destId="{946CA273-934C-4A1F-8B2A-C5910549C5FC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018EE2-9CCC-4450-887D-90A6539F00E1}">
      <dsp:nvSpPr>
        <dsp:cNvPr id="0" name=""/>
        <dsp:cNvSpPr/>
      </dsp:nvSpPr>
      <dsp:spPr>
        <a:xfrm rot="16200000">
          <a:off x="3082619" y="-3082619"/>
          <a:ext cx="5058434" cy="11223673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b="1" kern="1200" dirty="0"/>
        </a:p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b="1" kern="1200" dirty="0" smtClean="0"/>
            <a:t>Must</a:t>
          </a:r>
        </a:p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1" kern="1200" dirty="0" smtClean="0"/>
            <a:t>Создание заявок</a:t>
          </a:r>
          <a:endParaRPr lang="en-US" sz="3300" b="1" kern="1200" dirty="0" smtClean="0"/>
        </a:p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1" kern="1200" dirty="0" smtClean="0"/>
            <a:t>Согласование</a:t>
          </a:r>
          <a:endParaRPr lang="en-US" sz="3300" b="1" kern="1200" dirty="0" smtClean="0"/>
        </a:p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3300" b="1" kern="1200" dirty="0" smtClean="0"/>
            <a:t>Статусы</a:t>
          </a:r>
          <a:endParaRPr lang="ru-RU" sz="3300" b="1" kern="1200" dirty="0"/>
        </a:p>
      </dsp:txBody>
      <dsp:txXfrm rot="5400000">
        <a:off x="0" y="0"/>
        <a:ext cx="11223673" cy="3793825"/>
      </dsp:txXfrm>
    </dsp:sp>
    <dsp:sp modelId="{81F720D2-C05D-4199-BF24-C108CEE83A1D}">
      <dsp:nvSpPr>
        <dsp:cNvPr id="0" name=""/>
        <dsp:cNvSpPr/>
      </dsp:nvSpPr>
      <dsp:spPr>
        <a:xfrm>
          <a:off x="11223673" y="0"/>
          <a:ext cx="11223673" cy="5058434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t" anchorCtr="0">
          <a:noAutofit/>
        </a:bodyPr>
        <a:lstStyle/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b="1" kern="1200" dirty="0"/>
        </a:p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/>
            <a:t>Could</a:t>
          </a:r>
          <a:endParaRPr lang="en-US" sz="3600" b="1" kern="1200" dirty="0"/>
        </a:p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1" kern="1200" dirty="0" smtClean="0"/>
            <a:t>Расширенная аналитика</a:t>
          </a:r>
          <a:endParaRPr lang="en-US" sz="3300" b="1" kern="1200" dirty="0" smtClean="0"/>
        </a:p>
        <a:p>
          <a:pPr lvl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1" kern="1200" dirty="0" smtClean="0"/>
            <a:t>Шаблон </a:t>
          </a:r>
          <a:r>
            <a:rPr lang="ru-RU" sz="3300" b="1" kern="1200" dirty="0"/>
            <a:t>заявления</a:t>
          </a:r>
        </a:p>
      </dsp:txBody>
      <dsp:txXfrm>
        <a:off x="11223673" y="0"/>
        <a:ext cx="11223673" cy="3793825"/>
      </dsp:txXfrm>
    </dsp:sp>
    <dsp:sp modelId="{3AADE6BD-1CC1-4DD9-91FC-A2B3ED1F81B1}">
      <dsp:nvSpPr>
        <dsp:cNvPr id="0" name=""/>
        <dsp:cNvSpPr/>
      </dsp:nvSpPr>
      <dsp:spPr>
        <a:xfrm rot="10800000">
          <a:off x="0" y="5058434"/>
          <a:ext cx="11223673" cy="5058434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t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/>
            <a:t>Should</a:t>
          </a:r>
        </a:p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1" kern="1200" dirty="0"/>
            <a:t>Уведомления</a:t>
          </a:r>
        </a:p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1" kern="1200" dirty="0"/>
            <a:t>Отчеты</a:t>
          </a:r>
        </a:p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1" kern="1200" dirty="0"/>
            <a:t>Платформа для взаимодействия </a:t>
          </a:r>
          <a:r>
            <a:rPr lang="en-US" sz="3300" b="1" kern="1200" dirty="0"/>
            <a:t>HR</a:t>
          </a:r>
          <a:r>
            <a:rPr lang="ru-RU" sz="3300" b="1" kern="1200" dirty="0"/>
            <a:t> и работников</a:t>
          </a:r>
        </a:p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1" kern="1200" dirty="0"/>
            <a:t>Аналитика продуктивности</a:t>
          </a:r>
        </a:p>
      </dsp:txBody>
      <dsp:txXfrm rot="10800000">
        <a:off x="0" y="6323042"/>
        <a:ext cx="11223673" cy="3793825"/>
      </dsp:txXfrm>
    </dsp:sp>
    <dsp:sp modelId="{7471EAFE-20C5-41C1-8ECC-397A82CB723F}">
      <dsp:nvSpPr>
        <dsp:cNvPr id="0" name=""/>
        <dsp:cNvSpPr/>
      </dsp:nvSpPr>
      <dsp:spPr>
        <a:xfrm rot="5400000">
          <a:off x="14306293" y="1975814"/>
          <a:ext cx="5058434" cy="11223673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312928" rIns="312928" bIns="312928" numCol="1" spcCol="1270" anchor="t" anchorCtr="0">
          <a:noAutofit/>
        </a:bodyPr>
        <a:lstStyle/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400" b="1" kern="1200" dirty="0"/>
            <a:t>Won’t</a:t>
          </a:r>
        </a:p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1" kern="1200" dirty="0"/>
            <a:t>Интеграции с реальными системами</a:t>
          </a:r>
        </a:p>
        <a:p>
          <a:pPr lvl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300" b="1" kern="1200" dirty="0"/>
            <a:t>Дополнительные типы заявлений</a:t>
          </a:r>
          <a:endParaRPr lang="en-US" sz="3300" b="1" kern="1200" dirty="0"/>
        </a:p>
      </dsp:txBody>
      <dsp:txXfrm rot="-5400000">
        <a:off x="11223673" y="6323042"/>
        <a:ext cx="11223673" cy="3793825"/>
      </dsp:txXfrm>
    </dsp:sp>
    <dsp:sp modelId="{946CA273-934C-4A1F-8B2A-C5910549C5FC}">
      <dsp:nvSpPr>
        <dsp:cNvPr id="0" name=""/>
        <dsp:cNvSpPr/>
      </dsp:nvSpPr>
      <dsp:spPr>
        <a:xfrm>
          <a:off x="8822795" y="4515613"/>
          <a:ext cx="4801756" cy="1085641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b="1" kern="1200" dirty="0"/>
            <a:t>MoSCoW</a:t>
          </a:r>
          <a:endParaRPr lang="ru-RU" sz="4700" b="1" kern="1200" dirty="0"/>
        </a:p>
      </dsp:txBody>
      <dsp:txXfrm>
        <a:off x="8875792" y="4568610"/>
        <a:ext cx="4695762" cy="9796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415EA-4A78-425B-97B9-A1CA37130105}" type="datetimeFigureOut">
              <a:rPr lang="ru-RU" smtClean="0"/>
              <a:pPr/>
              <a:t>01.06.2026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F0599E-E26F-44DB-BB6E-ED4CB595406C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861174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9" name="Shape 14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502321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983233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Image"/>
          <p:cNvSpPr>
            <a:spLocks noGrp="1"/>
          </p:cNvSpPr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t>Slide Subtitle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Image"/>
          <p:cNvSpPr>
            <a:spLocks noGrp="1"/>
          </p:cNvSpPr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t>Slide Subtitle</a:t>
            </a:r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8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0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t>Agenda Subtitle</a:t>
            </a:r>
          </a:p>
        </p:txBody>
      </p:sp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solidFill>
                  <a:srgbClr val="0870E5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0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Canela Bold"/>
                <a:ea typeface="Canela Bold"/>
                <a:cs typeface="Canela Bold"/>
                <a:sym typeface="Canela Bold"/>
              </a:defRPr>
            </a:lvl1pPr>
            <a:lvl2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Canela Bold"/>
                <a:ea typeface="Canela Bold"/>
                <a:cs typeface="Canela Bold"/>
                <a:sym typeface="Canela Bold"/>
              </a:defRPr>
            </a:lvl2pPr>
            <a:lvl3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Canela Bold"/>
                <a:ea typeface="Canela Bold"/>
                <a:cs typeface="Canela Bold"/>
                <a:sym typeface="Canela Bold"/>
              </a:defRPr>
            </a:lvl3pPr>
            <a:lvl4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Canela Bold"/>
                <a:ea typeface="Canela Bold"/>
                <a:cs typeface="Canela Bold"/>
                <a:sym typeface="Canela Bold"/>
              </a:defRPr>
            </a:lvl4pPr>
            <a:lvl5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Canela Bold"/>
                <a:ea typeface="Canela Bold"/>
                <a:cs typeface="Canela Bold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Attribution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 b="1"/>
            </a:lvl1pPr>
            <a:lvl2pPr marL="0" indent="0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 b="1"/>
            </a:lvl2pPr>
            <a:lvl3pPr marL="0" indent="0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 b="1"/>
            </a:lvl3pPr>
            <a:lvl4pPr marL="0" indent="0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 b="1"/>
            </a:lvl4pPr>
            <a:lvl5pPr marL="0" indent="0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 b="1"/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941297804_1296x1457.jpg"/>
          <p:cNvSpPr>
            <a:spLocks noGrp="1"/>
          </p:cNvSpPr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915009552_2264x1509.jpg"/>
          <p:cNvSpPr>
            <a:spLocks noGrp="1"/>
          </p:cNvSpPr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6" name="740519873_3318x2212.jpg"/>
          <p:cNvSpPr>
            <a:spLocks noGrp="1"/>
          </p:cNvSpPr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740519873_3318x2212.jpg"/>
          <p:cNvSpPr>
            <a:spLocks noGrp="1"/>
          </p:cNvSpPr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ransition spd="med"/>
  <p:timing>
    <p:tnLst>
      <p:par>
        <p:cTn id="1" dur="indefinite" restart="never" nodeType="tmRoot"/>
      </p:par>
    </p:tnLst>
  </p:timing>
  <p:txStyles>
    <p:titleStyle>
      <a:lvl1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1pPr>
      <a:lvl2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2pPr>
      <a:lvl3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3pPr>
      <a:lvl4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4pPr>
      <a:lvl5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5pPr>
      <a:lvl6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6pPr>
      <a:lvl7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7pPr>
      <a:lvl8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8pPr>
      <a:lvl9pPr marL="0" marR="0" indent="0" algn="l" defTabSz="2438400" rtl="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1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9pPr>
    </p:titleStyle>
    <p:bodyStyle>
      <a:lvl1pPr marL="546100" marR="0" indent="-546100" algn="l" defTabSz="2438338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1pPr>
      <a:lvl2pPr marL="1092200" marR="0" indent="-546100" algn="l" defTabSz="2438338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2pPr>
      <a:lvl3pPr marL="1638300" marR="0" indent="-546100" algn="l" defTabSz="2438338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3pPr>
      <a:lvl4pPr marL="2184400" marR="0" indent="-546100" algn="l" defTabSz="2438338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4pPr>
      <a:lvl5pPr marL="2730500" marR="0" indent="-546100" algn="l" defTabSz="2438338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5pPr>
      <a:lvl6pPr marL="3276600" marR="0" indent="-546100" algn="l" defTabSz="2438338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6pPr>
      <a:lvl7pPr marL="3822700" marR="0" indent="-546100" algn="l" defTabSz="2438338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7pPr>
      <a:lvl8pPr marL="4368800" marR="0" indent="-546100" algn="l" defTabSz="2438338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8pPr>
      <a:lvl9pPr marL="4914900" marR="0" indent="-546100" algn="l" defTabSz="2438338" rtl="0" latinLnBrk="0">
        <a:lnSpc>
          <a:spcPct val="12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Half Logo Left.png" descr="Half Logo Le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0636" y="0"/>
            <a:ext cx="9478210" cy="13911265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Square"/>
          <p:cNvSpPr/>
          <p:nvPr/>
        </p:nvSpPr>
        <p:spPr>
          <a:xfrm>
            <a:off x="12888613" y="0"/>
            <a:ext cx="13911263" cy="13813632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sp>
        <p:nvSpPr>
          <p:cNvPr id="159" name="Лобанов Иван Васильевич Ректор Российского экономического университета  имени Г.В. Плеханова"/>
          <p:cNvSpPr txBox="1">
            <a:spLocks noGrp="1"/>
          </p:cNvSpPr>
          <p:nvPr>
            <p:ph type="body" sz="quarter" idx="1"/>
          </p:nvPr>
        </p:nvSpPr>
        <p:spPr>
          <a:xfrm>
            <a:off x="1185811" y="9962228"/>
            <a:ext cx="10309577" cy="3392265"/>
          </a:xfrm>
          <a:prstGeom prst="rect">
            <a:avLst/>
          </a:prstGeom>
        </p:spPr>
        <p:txBody>
          <a:bodyPr>
            <a:normAutofit fontScale="77500" lnSpcReduction="20000"/>
          </a:bodyPr>
          <a:lstStyle/>
          <a:p>
            <a:pPr marL="0" indent="0" defTabSz="2292038">
              <a:spcBef>
                <a:spcPts val="2200"/>
              </a:spcBef>
              <a:buSzTx/>
              <a:buNone/>
              <a:defRPr sz="4136"/>
            </a:pPr>
            <a:r>
              <a:rPr lang="ru-RU" b="1" dirty="0"/>
              <a:t>Воробьев </a:t>
            </a:r>
            <a:r>
              <a:rPr lang="ru-RU" b="1" dirty="0" smtClean="0"/>
              <a:t>Александр, </a:t>
            </a:r>
            <a:r>
              <a:rPr lang="ru-RU" b="1" dirty="0"/>
              <a:t>ЭПБО-02-25</a:t>
            </a:r>
          </a:p>
          <a:p>
            <a:pPr marL="0" indent="0" defTabSz="2292038">
              <a:spcBef>
                <a:spcPts val="2200"/>
              </a:spcBef>
              <a:buSzTx/>
              <a:buNone/>
              <a:defRPr sz="4136"/>
            </a:pPr>
            <a:r>
              <a:rPr lang="ru-RU" b="1" dirty="0"/>
              <a:t>Никитинская Алёна, ЭФБО-01-25</a:t>
            </a:r>
          </a:p>
          <a:p>
            <a:pPr marL="0" indent="0" defTabSz="2292038">
              <a:spcBef>
                <a:spcPts val="2200"/>
              </a:spcBef>
              <a:buSzTx/>
              <a:buNone/>
              <a:defRPr sz="4136"/>
            </a:pPr>
            <a:r>
              <a:rPr lang="ru-RU" b="1" dirty="0"/>
              <a:t>Миронова Валерия, ЭФБО-01-25</a:t>
            </a:r>
          </a:p>
          <a:p>
            <a:pPr marL="0" indent="0" defTabSz="2292038">
              <a:spcBef>
                <a:spcPts val="2200"/>
              </a:spcBef>
              <a:buSzTx/>
              <a:buNone/>
              <a:defRPr sz="4136"/>
            </a:pPr>
            <a:r>
              <a:rPr lang="ru-RU" b="1" dirty="0"/>
              <a:t>Никитин Даниил, ИКБО-70-25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160" name="ГЛОБАЛЬНАЯ КОНКУРЕНЦИЯ"/>
          <p:cNvSpPr txBox="1"/>
          <p:nvPr/>
        </p:nvSpPr>
        <p:spPr>
          <a:xfrm>
            <a:off x="988727" y="4489260"/>
            <a:ext cx="11497315" cy="2993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 fontScale="92500"/>
          </a:bodyPr>
          <a:lstStyle>
            <a:lvl1pPr defTabSz="2438400">
              <a:spcBef>
                <a:spcPts val="0"/>
              </a:spcBef>
              <a:defRPr sz="8400" b="1" spc="-84">
                <a:solidFill>
                  <a:srgbClr val="2F74B9"/>
                </a:solidFill>
              </a:defRPr>
            </a:lvl1pPr>
          </a:lstStyle>
          <a:p>
            <a:r>
              <a:rPr lang="ru-RU" sz="6000" cap="all" dirty="0">
                <a:solidFill>
                  <a:srgbClr val="0B2D50"/>
                </a:solidFill>
              </a:rPr>
              <a:t>HR-онбординг и отпуска (маршруты согласования)</a:t>
            </a:r>
            <a:br>
              <a:rPr lang="ru-RU" sz="6000" cap="all" dirty="0">
                <a:solidFill>
                  <a:srgbClr val="0B2D50"/>
                </a:solidFill>
              </a:rPr>
            </a:br>
            <a:r>
              <a:rPr lang="ru-RU" sz="4400" cap="all" dirty="0">
                <a:solidFill>
                  <a:srgbClr val="0B2D50"/>
                </a:solidFill>
              </a:rPr>
              <a:t>Команда №19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E44B48E6-92C6-B505-EADB-0B1CC08F7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475269" y="3458354"/>
            <a:ext cx="7729137" cy="5415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Минцифры">
            <a:extLst>
              <a:ext uri="{FF2B5EF4-FFF2-40B4-BE49-F238E27FC236}">
                <a16:creationId xmlns:a16="http://schemas.microsoft.com/office/drawing/2014/main" xmlns="" id="{7349B40C-26BC-4DB7-DA20-5890D21DE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502420" y="491891"/>
            <a:ext cx="4816846" cy="67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Аналитический центр">
            <a:extLst>
              <a:ext uri="{FF2B5EF4-FFF2-40B4-BE49-F238E27FC236}">
                <a16:creationId xmlns:a16="http://schemas.microsoft.com/office/drawing/2014/main" xmlns="" id="{A4B14C3D-C446-96A6-84C0-39EFBD71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933072" y="352008"/>
            <a:ext cx="4431310" cy="81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1С">
            <a:extLst>
              <a:ext uri="{FF2B5EF4-FFF2-40B4-BE49-F238E27FC236}">
                <a16:creationId xmlns:a16="http://schemas.microsoft.com/office/drawing/2014/main" xmlns="" id="{7380BEC8-899A-58E3-CA48-90872CB312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978188" y="316076"/>
            <a:ext cx="1740674" cy="848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ГЛОБАЛЬНАЯ КОНКУРЕНЦИЯ">
            <a:extLst>
              <a:ext uri="{FF2B5EF4-FFF2-40B4-BE49-F238E27FC236}">
                <a16:creationId xmlns:a16="http://schemas.microsoft.com/office/drawing/2014/main" xmlns="" id="{005B68CF-8AFC-63D5-FE15-91C255DFFB73}"/>
              </a:ext>
            </a:extLst>
          </p:cNvPr>
          <p:cNvSpPr txBox="1"/>
          <p:nvPr/>
        </p:nvSpPr>
        <p:spPr>
          <a:xfrm>
            <a:off x="14095586" y="9665591"/>
            <a:ext cx="11497315" cy="2993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2438400">
              <a:spcBef>
                <a:spcPts val="0"/>
              </a:spcBef>
              <a:defRPr sz="8400" b="1" spc="-84">
                <a:solidFill>
                  <a:srgbClr val="2F74B9"/>
                </a:solidFill>
              </a:defRPr>
            </a:lvl1pPr>
          </a:lstStyle>
          <a:p>
            <a:pPr algn="ctr"/>
            <a:r>
              <a:rPr lang="ru-RU" sz="6000" cap="all" dirty="0">
                <a:solidFill>
                  <a:schemeClr val="bg1"/>
                </a:solidFill>
              </a:rPr>
              <a:t>Основы проектной деятельности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ЛЮЧЕВЫЕ…"/>
          <p:cNvSpPr txBox="1">
            <a:spLocks noGrp="1"/>
          </p:cNvSpPr>
          <p:nvPr>
            <p:ph type="title"/>
          </p:nvPr>
        </p:nvSpPr>
        <p:spPr>
          <a:xfrm>
            <a:off x="8805987" y="2581804"/>
            <a:ext cx="13074958" cy="2393834"/>
          </a:xfrm>
          <a:prstGeom prst="rect">
            <a:avLst/>
          </a:prstGeom>
        </p:spPr>
        <p:txBody>
          <a:bodyPr anchor="b">
            <a:normAutofit fontScale="90000"/>
          </a:bodyPr>
          <a:lstStyle/>
          <a:p>
            <a:pPr defTabSz="1463040">
              <a:spcBef>
                <a:spcPts val="1200"/>
              </a:spcBef>
              <a:spcAft>
                <a:spcPts val="1500"/>
              </a:spcAft>
              <a:defRPr sz="5040" spc="-50"/>
            </a:pPr>
            <a:r>
              <a:rPr lang="ru-RU" sz="5600" dirty="0"/>
              <a:t>Цель проекта: </a:t>
            </a:r>
            <a:r>
              <a:rPr lang="en-US" sz="5400" dirty="0"/>
              <a:t/>
            </a:r>
            <a:br>
              <a:rPr lang="en-US" sz="5400" dirty="0"/>
            </a:br>
            <a:r>
              <a:rPr lang="ru-RU" sz="3600" b="0" dirty="0" smtClean="0"/>
              <a:t>Создание </a:t>
            </a:r>
            <a:r>
              <a:rPr lang="ru-RU" sz="3600" b="0" dirty="0"/>
              <a:t>системы согласования заявок на отпуск и командировки для сокращения времени обработки, снижения количества ошибок и повышения прозрачности </a:t>
            </a:r>
            <a:r>
              <a:rPr lang="ru-RU" sz="3600" b="0" dirty="0" smtClean="0"/>
              <a:t>статусов</a:t>
            </a:r>
            <a:endParaRPr sz="3600" b="0" dirty="0"/>
          </a:p>
        </p:txBody>
      </p:sp>
      <p:sp>
        <p:nvSpPr>
          <p:cNvPr id="3" name="Образ специалиста будущего: какие компетенции необходимы в условиях непрерывного обновления IT-технологий?…">
            <a:extLst>
              <a:ext uri="{FF2B5EF4-FFF2-40B4-BE49-F238E27FC236}">
                <a16:creationId xmlns:a16="http://schemas.microsoft.com/office/drawing/2014/main" xmlns="" id="{297F6F32-C611-91AF-7CAF-DB220732A66B}"/>
              </a:ext>
            </a:extLst>
          </p:cNvPr>
          <p:cNvSpPr txBox="1"/>
          <p:nvPr/>
        </p:nvSpPr>
        <p:spPr>
          <a:xfrm>
            <a:off x="735223" y="2275152"/>
            <a:ext cx="6833977" cy="88768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1463040" hangingPunct="1">
              <a:spcBef>
                <a:spcPts val="1200"/>
              </a:spcBef>
              <a:defRPr sz="5040" spc="-50"/>
            </a:pPr>
            <a:r>
              <a:rPr lang="ru-RU" sz="5000" b="1" dirty="0" smtClean="0"/>
              <a:t>Основные сведения:</a:t>
            </a:r>
            <a:endParaRPr lang="en-US" sz="5000" b="1" dirty="0" smtClean="0"/>
          </a:p>
          <a:p>
            <a:pPr defTabSz="1463040" hangingPunct="1">
              <a:spcBef>
                <a:spcPts val="1200"/>
              </a:spcBef>
              <a:defRPr sz="5040" spc="-50"/>
            </a:pPr>
            <a:r>
              <a:rPr lang="ru-RU" sz="3200" i="1" dirty="0"/>
              <a:t>Название </a:t>
            </a:r>
            <a:r>
              <a:rPr lang="ru-RU" sz="3200" i="1" dirty="0" smtClean="0"/>
              <a:t>проекта:</a:t>
            </a:r>
            <a:r>
              <a:rPr lang="ru-RU" sz="3200" dirty="0" smtClean="0"/>
              <a:t/>
            </a:r>
            <a:br>
              <a:rPr lang="ru-RU" sz="3200" dirty="0" smtClean="0"/>
            </a:br>
            <a:r>
              <a:rPr lang="ru-RU" sz="3200" dirty="0" smtClean="0"/>
              <a:t>HR-</a:t>
            </a:r>
            <a:r>
              <a:rPr lang="ru-RU" sz="3200" dirty="0" err="1" smtClean="0"/>
              <a:t>онбординг</a:t>
            </a:r>
            <a:r>
              <a:rPr lang="ru-RU" sz="3200" dirty="0" smtClean="0"/>
              <a:t> и отпуска (маршруты согласования)</a:t>
            </a:r>
            <a:endParaRPr lang="en-US" sz="3200" dirty="0" smtClean="0"/>
          </a:p>
          <a:p>
            <a:pPr defTabSz="1463040" hangingPunct="1">
              <a:spcBef>
                <a:spcPts val="1200"/>
              </a:spcBef>
              <a:defRPr sz="5040" spc="-50"/>
            </a:pPr>
            <a:r>
              <a:rPr lang="ru-RU" sz="3200" dirty="0" smtClean="0"/>
              <a:t>№ кейса: 5</a:t>
            </a:r>
          </a:p>
          <a:p>
            <a:pPr defTabSz="2292038">
              <a:spcBef>
                <a:spcPts val="1200"/>
              </a:spcBef>
              <a:defRPr sz="4136"/>
            </a:pPr>
            <a:r>
              <a:rPr lang="ru-RU" sz="3200" i="1" dirty="0" smtClean="0"/>
              <a:t>Участники:</a:t>
            </a:r>
            <a:r>
              <a:rPr lang="ru-RU" sz="3200" dirty="0"/>
              <a:t/>
            </a:r>
            <a:br>
              <a:rPr lang="ru-RU" sz="3200" dirty="0"/>
            </a:br>
            <a:r>
              <a:rPr lang="ru-RU" sz="3200" dirty="0"/>
              <a:t>Воробьев </a:t>
            </a:r>
            <a:r>
              <a:rPr lang="ru-RU" sz="3200" dirty="0" smtClean="0"/>
              <a:t>Александр ЭПБО-02-25</a:t>
            </a:r>
            <a:r>
              <a:rPr lang="en-US" sz="3200" dirty="0" smtClean="0"/>
              <a:t>, </a:t>
            </a:r>
            <a:r>
              <a:rPr lang="ru-RU" sz="3200" dirty="0" smtClean="0"/>
              <a:t>Никитинская Алёна ЭФБО-01-25</a:t>
            </a:r>
            <a:r>
              <a:rPr lang="en-US" sz="3200" dirty="0" smtClean="0"/>
              <a:t>, </a:t>
            </a:r>
            <a:r>
              <a:rPr lang="ru-RU" sz="3200" dirty="0" smtClean="0"/>
              <a:t>Миронова Валерия ЭФБО-01-25</a:t>
            </a:r>
            <a:r>
              <a:rPr lang="en-US" sz="3200" dirty="0" smtClean="0"/>
              <a:t>, </a:t>
            </a:r>
            <a:r>
              <a:rPr lang="ru-RU" sz="3200" dirty="0" smtClean="0"/>
              <a:t>Никитин Даниил ИКБО-70-25</a:t>
            </a:r>
            <a:endParaRPr lang="en-US" sz="3200" dirty="0" smtClean="0"/>
          </a:p>
          <a:p>
            <a:pPr defTabSz="2292038">
              <a:spcBef>
                <a:spcPts val="1200"/>
              </a:spcBef>
              <a:defRPr sz="4136"/>
            </a:pPr>
            <a:r>
              <a:rPr lang="ru-RU" sz="3200" i="1" dirty="0" smtClean="0"/>
              <a:t>Сроки</a:t>
            </a:r>
            <a:r>
              <a:rPr lang="ru-RU" sz="3200" i="1" dirty="0"/>
              <a:t>: </a:t>
            </a:r>
            <a:r>
              <a:rPr lang="ru-RU" sz="3200" dirty="0"/>
              <a:t>30.03.2026</a:t>
            </a:r>
          </a:p>
          <a:p>
            <a:pPr defTabSz="1463040" hangingPunct="1">
              <a:spcBef>
                <a:spcPts val="1200"/>
              </a:spcBef>
              <a:defRPr sz="5040" spc="-50"/>
            </a:pPr>
            <a:endParaRPr lang="ru-RU" sz="5400" b="1" dirty="0" smtClean="0"/>
          </a:p>
        </p:txBody>
      </p:sp>
      <p:sp>
        <p:nvSpPr>
          <p:cNvPr id="4" name="Square">
            <a:extLst>
              <a:ext uri="{FF2B5EF4-FFF2-40B4-BE49-F238E27FC236}">
                <a16:creationId xmlns:a16="http://schemas.microsoft.com/office/drawing/2014/main" xmlns="" id="{BC283356-23E2-C47A-544B-06DF46407332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B9054DB1-3B79-B1D9-6E7C-F12D5DCDFC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раз специалиста будущего: какие компетенции необходимы в условиях непрерывного обновления IT-технологий?…">
            <a:extLst>
              <a:ext uri="{FF2B5EF4-FFF2-40B4-BE49-F238E27FC236}">
                <a16:creationId xmlns:a16="http://schemas.microsoft.com/office/drawing/2014/main" xmlns="" id="{3A4D57E2-32D0-20DC-2563-A07C1843C0FE}"/>
              </a:ext>
            </a:extLst>
          </p:cNvPr>
          <p:cNvSpPr txBox="1"/>
          <p:nvPr/>
        </p:nvSpPr>
        <p:spPr>
          <a:xfrm>
            <a:off x="8805985" y="5866899"/>
            <a:ext cx="13074960" cy="5488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/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ru-RU" sz="5000" b="1" dirty="0" smtClean="0"/>
              <a:t>Задачи проекта</a:t>
            </a:r>
            <a:r>
              <a:rPr lang="en-US" sz="5000" b="1" dirty="0" smtClean="0"/>
              <a:t>:</a:t>
            </a:r>
            <a:endParaRPr lang="ru-RU" sz="5000" b="1" dirty="0"/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ru-RU" sz="3200" dirty="0" smtClean="0"/>
              <a:t>Разработать систему создания заявок</a:t>
            </a:r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ru-RU" sz="3200" dirty="0" smtClean="0"/>
              <a:t>Реализовать маршруты согласования</a:t>
            </a:r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ru-RU" sz="3200" dirty="0" smtClean="0"/>
              <a:t>Добавить статусы заявок</a:t>
            </a:r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ru-RU" sz="3200" dirty="0" smtClean="0"/>
              <a:t>Настроить уведомления</a:t>
            </a:r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ru-RU" sz="3200" dirty="0" smtClean="0"/>
              <a:t>Создать отчёт по заявкам</a:t>
            </a:r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ru-RU" sz="3200" dirty="0" smtClean="0"/>
              <a:t>Реализовать импорт/экспорт данных</a:t>
            </a:r>
            <a:endParaRPr lang="ru-RU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C675F21-23DB-B66F-73B4-29FDD374A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Образ специалиста будущего: какие компетенции необходимы в условиях непрерывного обновления IT-технологий?…">
            <a:extLst>
              <a:ext uri="{FF2B5EF4-FFF2-40B4-BE49-F238E27FC236}">
                <a16:creationId xmlns:a16="http://schemas.microsoft.com/office/drawing/2014/main" xmlns="" id="{23714B1C-FC0B-AF43-F2AD-7AFA320C6946}"/>
              </a:ext>
            </a:extLst>
          </p:cNvPr>
          <p:cNvSpPr txBox="1"/>
          <p:nvPr/>
        </p:nvSpPr>
        <p:spPr>
          <a:xfrm>
            <a:off x="961292" y="3254147"/>
            <a:ext cx="15263445" cy="297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1804370">
              <a:spcBef>
                <a:spcPts val="1700"/>
              </a:spcBef>
              <a:buSzPct val="150000"/>
              <a:defRPr sz="3256"/>
            </a:pPr>
            <a:endParaRPr lang="ru-RU" dirty="0"/>
          </a:p>
        </p:txBody>
      </p:sp>
      <p:sp>
        <p:nvSpPr>
          <p:cNvPr id="4" name="Square">
            <a:extLst>
              <a:ext uri="{FF2B5EF4-FFF2-40B4-BE49-F238E27FC236}">
                <a16:creationId xmlns:a16="http://schemas.microsoft.com/office/drawing/2014/main" xmlns="" id="{7156273B-936D-17BD-B413-0437CF5EA5D7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DCBCE6A9-F2C9-4764-FB68-4B23CFA26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раз специалиста будущего: какие компетенции необходимы в условиях непрерывного обновления IT-технологий?…">
            <a:extLst>
              <a:ext uri="{FF2B5EF4-FFF2-40B4-BE49-F238E27FC236}">
                <a16:creationId xmlns:a16="http://schemas.microsoft.com/office/drawing/2014/main" xmlns="" id="{AACEB83C-194F-765C-924A-7278DCFDD68F}"/>
              </a:ext>
            </a:extLst>
          </p:cNvPr>
          <p:cNvSpPr txBox="1"/>
          <p:nvPr/>
        </p:nvSpPr>
        <p:spPr>
          <a:xfrm>
            <a:off x="690556" y="6620018"/>
            <a:ext cx="22695878" cy="2978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1804370">
              <a:lnSpc>
                <a:spcPct val="140000"/>
              </a:lnSpc>
              <a:spcBef>
                <a:spcPts val="1200"/>
              </a:spcBef>
              <a:buSzPct val="150000"/>
              <a:defRPr sz="3256"/>
            </a:pPr>
            <a:r>
              <a:rPr lang="ru-RU" sz="5000" b="1" spc="-50" dirty="0"/>
              <a:t>Выгода от реализации и основные </a:t>
            </a:r>
            <a:r>
              <a:rPr lang="ru-RU" sz="5000" b="1" spc="-50" dirty="0" smtClean="0"/>
              <a:t>метрики</a:t>
            </a:r>
            <a:r>
              <a:rPr lang="en-US" sz="5000" b="1" spc="-50" dirty="0" smtClean="0"/>
              <a:t>:</a:t>
            </a:r>
            <a:endParaRPr lang="en-US" sz="5000" b="1" dirty="0" smtClean="0"/>
          </a:p>
          <a:p>
            <a:pPr defTabSz="1804370">
              <a:lnSpc>
                <a:spcPct val="140000"/>
              </a:lnSpc>
              <a:spcBef>
                <a:spcPts val="1200"/>
              </a:spcBef>
              <a:buSzPct val="150000"/>
              <a:defRPr sz="3256"/>
            </a:pPr>
            <a:r>
              <a:rPr lang="ru-RU" sz="3200" dirty="0" smtClean="0">
                <a:latin typeface="Roboto (Основной текст)"/>
              </a:rPr>
              <a:t>Метрики </a:t>
            </a:r>
            <a:r>
              <a:rPr lang="ru-RU" sz="3200" dirty="0">
                <a:latin typeface="Roboto (Основной текст)"/>
              </a:rPr>
              <a:t>(KPI): Среднее время согласования ≤ 3 дней </a:t>
            </a:r>
          </a:p>
          <a:p>
            <a:pPr defTabSz="1804370">
              <a:lnSpc>
                <a:spcPct val="140000"/>
              </a:lnSpc>
              <a:spcBef>
                <a:spcPts val="1200"/>
              </a:spcBef>
              <a:buSzPct val="150000"/>
              <a:defRPr sz="3256"/>
            </a:pPr>
            <a:r>
              <a:rPr lang="ru-RU" sz="3200" dirty="0" smtClean="0">
                <a:latin typeface="Roboto (Основной текст)"/>
              </a:rPr>
              <a:t>Время </a:t>
            </a:r>
            <a:r>
              <a:rPr lang="ru-RU" sz="3200" dirty="0">
                <a:latin typeface="Roboto (Основной текст)"/>
              </a:rPr>
              <a:t>формирования отчёта ≤ 2 </a:t>
            </a:r>
            <a:r>
              <a:rPr lang="ru-RU" sz="3200" dirty="0" smtClean="0">
                <a:latin typeface="Roboto (Основной текст)"/>
              </a:rPr>
              <a:t>секунд</a:t>
            </a:r>
            <a:endParaRPr lang="ru-RU" sz="3200" dirty="0">
              <a:latin typeface="Roboto (Основной текст)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90556" y="2291959"/>
            <a:ext cx="12192000" cy="39406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1200"/>
              </a:spcBef>
            </a:pPr>
            <a:r>
              <a:rPr lang="ru-RU" sz="5000" b="1" dirty="0" smtClean="0"/>
              <a:t>Актуальная проблема</a:t>
            </a:r>
            <a:r>
              <a:rPr lang="en-US" sz="5000" b="1" dirty="0" smtClean="0"/>
              <a:t>:</a:t>
            </a:r>
            <a:endParaRPr lang="ru-RU" sz="5000" b="1" dirty="0" smtClean="0"/>
          </a:p>
          <a:p>
            <a:pPr>
              <a:spcBef>
                <a:spcPts val="1200"/>
              </a:spcBef>
            </a:pPr>
            <a:r>
              <a:rPr lang="ru-RU" sz="3200" dirty="0" smtClean="0"/>
              <a:t>Долгое согласование заявок</a:t>
            </a:r>
          </a:p>
          <a:p>
            <a:pPr>
              <a:spcBef>
                <a:spcPts val="1200"/>
              </a:spcBef>
            </a:pPr>
            <a:r>
              <a:rPr lang="ru-RU" sz="3200" dirty="0" smtClean="0"/>
              <a:t>Отсутствие прозрачности процессов</a:t>
            </a:r>
          </a:p>
          <a:p>
            <a:pPr>
              <a:spcBef>
                <a:spcPts val="1200"/>
              </a:spcBef>
            </a:pPr>
            <a:r>
              <a:rPr lang="ru-RU" sz="3200" dirty="0" smtClean="0"/>
              <a:t>Нет контроля сроков</a:t>
            </a:r>
            <a:r>
              <a:rPr lang="en-US" sz="3200" dirty="0"/>
              <a:t> </a:t>
            </a:r>
            <a:r>
              <a:rPr lang="en-US" sz="3200" dirty="0" smtClean="0"/>
              <a:t>(SLA)</a:t>
            </a:r>
            <a:endParaRPr lang="en-US" sz="3200" dirty="0"/>
          </a:p>
          <a:p>
            <a:pPr>
              <a:spcBef>
                <a:spcPts val="1200"/>
              </a:spcBef>
            </a:pPr>
            <a:r>
              <a:rPr lang="ru-RU" sz="3200" dirty="0" smtClean="0"/>
              <a:t>Нет аналитики по задержкам</a:t>
            </a:r>
            <a:endParaRPr lang="ru-RU" sz="5000" b="1" dirty="0"/>
          </a:p>
        </p:txBody>
      </p:sp>
    </p:spTree>
    <p:extLst>
      <p:ext uri="{BB962C8B-B14F-4D97-AF65-F5344CB8AC3E}">
        <p14:creationId xmlns:p14="http://schemas.microsoft.com/office/powerpoint/2010/main" xmlns="" val="1469186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D3BC917-0789-C297-8FAD-79B9E4D6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quare">
            <a:extLst>
              <a:ext uri="{FF2B5EF4-FFF2-40B4-BE49-F238E27FC236}">
                <a16:creationId xmlns:a16="http://schemas.microsoft.com/office/drawing/2014/main" xmlns="" id="{C94029A3-50B4-1256-05E5-C2DF0A73E8BB}"/>
              </a:ext>
            </a:extLst>
          </p:cNvPr>
          <p:cNvSpPr/>
          <p:nvPr/>
        </p:nvSpPr>
        <p:spPr>
          <a:xfrm>
            <a:off x="0" y="-69648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B8974399-9E89-D192-B1ED-0D4EF246A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CB8D655-7AD7-4A5E-54D3-E09259EA0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383" y="2262517"/>
            <a:ext cx="11017347" cy="46705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>
              <a:spcBef>
                <a:spcPts val="1200"/>
              </a:spcBef>
              <a:spcAft>
                <a:spcPct val="0"/>
              </a:spcAft>
            </a:pPr>
            <a:r>
              <a:rPr lang="ru-RU" sz="5000" b="1" dirty="0"/>
              <a:t>Результаты проекта:</a:t>
            </a:r>
            <a:endParaRPr kumimoji="0" lang="en-US" altLang="ru-RU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Реализована </a:t>
            </a: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система заявок</a:t>
            </a:r>
          </a:p>
          <a:p>
            <a:pPr marL="0" marR="0" lvl="0" indent="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Настроены маршруты согласования</a:t>
            </a:r>
          </a:p>
          <a:p>
            <a:pPr marL="0" marR="0" lvl="0" indent="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Добавлены статусы заявок</a:t>
            </a:r>
          </a:p>
          <a:p>
            <a:pPr marL="0" marR="0" lvl="0" indent="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Создан отчёт по данным</a:t>
            </a:r>
          </a:p>
          <a:p>
            <a:pPr marL="0" marR="0" lvl="0" indent="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Реализован расчёт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00229" y="2206172"/>
            <a:ext cx="12583885" cy="69475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r>
              <a:rPr lang="ru-RU" sz="5000" b="1" dirty="0" smtClean="0"/>
              <a:t>Система </a:t>
            </a:r>
            <a:r>
              <a:rPr lang="ru-RU" sz="5000" b="1" dirty="0" err="1" smtClean="0"/>
              <a:t>задеплоена</a:t>
            </a:r>
            <a:r>
              <a:rPr lang="ru-RU" sz="5000" b="1" dirty="0" smtClean="0"/>
              <a:t>: </a:t>
            </a:r>
            <a:endParaRPr lang="ru-RU" sz="5000" b="1" dirty="0" smtClean="0"/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backend </a:t>
            </a:r>
            <a:r>
              <a:rPr lang="ru-RU" sz="3200" dirty="0" smtClean="0"/>
              <a:t>на </a:t>
            </a:r>
            <a:r>
              <a:rPr lang="en-US" sz="3200" dirty="0" err="1" smtClean="0"/>
              <a:t>PythonAnywhere</a:t>
            </a:r>
            <a:endParaRPr lang="ru-RU" sz="3200" dirty="0" smtClean="0"/>
          </a:p>
          <a:p>
            <a:pPr>
              <a:buFont typeface="Arial" pitchFamily="34" charset="0"/>
              <a:buChar char="•"/>
            </a:pPr>
            <a:r>
              <a:rPr lang="en-US" sz="3200" dirty="0" smtClean="0"/>
              <a:t>frontend </a:t>
            </a:r>
            <a:r>
              <a:rPr lang="ru-RU" sz="3200" dirty="0" smtClean="0"/>
              <a:t>на </a:t>
            </a:r>
            <a:r>
              <a:rPr lang="en-US" sz="3200" dirty="0" err="1" smtClean="0"/>
              <a:t>Netlify</a:t>
            </a:r>
            <a:endParaRPr lang="ru-RU" sz="3200" dirty="0" smtClean="0"/>
          </a:p>
          <a:p>
            <a:endParaRPr lang="ru-RU" sz="3200" dirty="0" smtClean="0"/>
          </a:p>
          <a:p>
            <a:r>
              <a:rPr lang="en-US" sz="3200" dirty="0" smtClean="0"/>
              <a:t>helen11png.pythonanywhere.com</a:t>
            </a:r>
          </a:p>
          <a:p>
            <a:r>
              <a:rPr lang="en-US" sz="3200" dirty="0" smtClean="0"/>
              <a:t>https://gilded-nougat-319b3b.netlify.app</a:t>
            </a:r>
            <a:endParaRPr lang="en-US" sz="3200" dirty="0" smtClean="0"/>
          </a:p>
          <a:p>
            <a:endParaRPr kumimoji="0" lang="ru-RU" sz="4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935699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7A5A5F8-29C1-F639-11C5-51F4158FD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quare">
            <a:extLst>
              <a:ext uri="{FF2B5EF4-FFF2-40B4-BE49-F238E27FC236}">
                <a16:creationId xmlns:a16="http://schemas.microsoft.com/office/drawing/2014/main" xmlns="" id="{BD0A963B-4D69-A536-4BEA-8A349F777652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120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8AE381AE-4AC0-1374-8277-2D13169A9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753189A9-6DD9-A4DB-8EAC-2F754C7FCE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13" y="2263616"/>
            <a:ext cx="9744975" cy="3994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>
              <a:spcBef>
                <a:spcPts val="1200"/>
              </a:spcBef>
              <a:spcAft>
                <a:spcPct val="0"/>
              </a:spcAft>
            </a:pPr>
            <a:r>
              <a:rPr lang="ru-RU" sz="5000" b="1" dirty="0"/>
              <a:t>Группы пользователей</a:t>
            </a:r>
            <a:endParaRPr kumimoji="0" lang="ru-RU" altLang="ru-RU" sz="5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3200" b="1" dirty="0"/>
              <a:t>Сотрудник</a:t>
            </a:r>
            <a:r>
              <a:rPr lang="ru-RU" altLang="ru-RU" sz="3200" dirty="0"/>
              <a:t> — создаёт заявления</a:t>
            </a:r>
          </a:p>
          <a:p>
            <a:pPr marL="0" marR="0" lvl="0" indent="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3200" b="1" dirty="0"/>
              <a:t>Руководитель</a:t>
            </a:r>
            <a:r>
              <a:rPr lang="ru-RU" altLang="ru-RU" sz="3200" dirty="0"/>
              <a:t> — согласует </a:t>
            </a:r>
          </a:p>
          <a:p>
            <a:pPr marL="0" marR="0" lvl="0" indent="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3200" b="1" dirty="0"/>
              <a:t>HR</a:t>
            </a:r>
            <a:r>
              <a:rPr lang="ru-RU" altLang="ru-RU" sz="3200" dirty="0"/>
              <a:t> — утверждает</a:t>
            </a:r>
          </a:p>
          <a:p>
            <a:pPr marL="0" marR="0" lvl="0" indent="0" algn="l" defTabSz="914400" rtl="0" eaLnBrk="0" fontAlgn="base" latinLnBrk="0" hangingPunct="0">
              <a:spcBef>
                <a:spcPts val="1200"/>
              </a:spcBef>
              <a:spcAft>
                <a:spcPct val="0"/>
              </a:spcAft>
              <a:buClrTx/>
              <a:buSzTx/>
              <a:tabLst/>
            </a:pPr>
            <a:r>
              <a:rPr lang="ru-RU" altLang="ru-RU" sz="3200" b="1" dirty="0"/>
              <a:t>Администратор</a:t>
            </a:r>
            <a:r>
              <a:rPr lang="ru-RU" altLang="ru-RU" sz="3200" dirty="0"/>
              <a:t> — выполняет системные задачи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BE4448D-46BF-0A70-679E-2B217EE8B280}"/>
              </a:ext>
            </a:extLst>
          </p:cNvPr>
          <p:cNvSpPr txBox="1"/>
          <p:nvPr/>
        </p:nvSpPr>
        <p:spPr>
          <a:xfrm>
            <a:off x="671313" y="6831628"/>
            <a:ext cx="9496510" cy="4525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5000" b="1" dirty="0"/>
              <a:t>User Story </a:t>
            </a:r>
            <a:r>
              <a:rPr lang="en-US" sz="5000" b="1" dirty="0" smtClean="0"/>
              <a:t>Map</a:t>
            </a:r>
            <a:endParaRPr lang="ru-RU" sz="5000" b="1" dirty="0" smtClean="0"/>
          </a:p>
          <a:p>
            <a:pPr>
              <a:spcBef>
                <a:spcPts val="1200"/>
              </a:spcBef>
            </a:pPr>
            <a:r>
              <a:rPr lang="ru-RU" sz="3200" dirty="0"/>
              <a:t>Сотрудник создаёт заявку → отправляет </a:t>
            </a:r>
            <a:r>
              <a:rPr lang="ru-RU" sz="3200" dirty="0" smtClean="0"/>
              <a:t>→ Руководитель </a:t>
            </a:r>
            <a:r>
              <a:rPr lang="ru-RU" sz="3200" dirty="0"/>
              <a:t>согласует → HR утверждает </a:t>
            </a:r>
            <a:r>
              <a:rPr lang="ru-RU" sz="3200" dirty="0" smtClean="0"/>
              <a:t>→ Система </a:t>
            </a:r>
            <a:r>
              <a:rPr lang="ru-RU" sz="3200" dirty="0"/>
              <a:t>сохраняет статус → формируется отчёт</a:t>
            </a:r>
          </a:p>
          <a:p>
            <a:pPr>
              <a:spcBef>
                <a:spcPts val="1200"/>
              </a:spcBef>
            </a:pPr>
            <a:endParaRPr lang="en-US" sz="5000" b="1" dirty="0" smtClean="0"/>
          </a:p>
        </p:txBody>
      </p:sp>
    </p:spTree>
    <p:extLst>
      <p:ext uri="{BB962C8B-B14F-4D97-AF65-F5344CB8AC3E}">
        <p14:creationId xmlns:p14="http://schemas.microsoft.com/office/powerpoint/2010/main" xmlns="" val="2447688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CF0B15-D882-F9BE-B600-C3C8C457C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ЛЮЧЕВЫЕ…">
            <a:extLst>
              <a:ext uri="{FF2B5EF4-FFF2-40B4-BE49-F238E27FC236}">
                <a16:creationId xmlns:a16="http://schemas.microsoft.com/office/drawing/2014/main" xmlns="" id="{4C60B4AB-930D-E515-C53C-4035D61DBC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30812" y="1890279"/>
            <a:ext cx="16810892" cy="92249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defTabSz="1463040">
              <a:defRPr sz="5040" spc="-50"/>
            </a:pPr>
            <a:r>
              <a:rPr lang="ru-RU" sz="5000" dirty="0"/>
              <a:t>Приоритизация требований</a:t>
            </a:r>
            <a:endParaRPr sz="5000" dirty="0"/>
          </a:p>
        </p:txBody>
      </p:sp>
      <p:sp>
        <p:nvSpPr>
          <p:cNvPr id="4" name="Square">
            <a:extLst>
              <a:ext uri="{FF2B5EF4-FFF2-40B4-BE49-F238E27FC236}">
                <a16:creationId xmlns:a16="http://schemas.microsoft.com/office/drawing/2014/main" xmlns="" id="{A4F01CE2-3C60-2FD9-8311-B4742F0D94F2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5B5E6B31-2B37-B1E0-3C36-4AA052007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Схема 1">
            <a:extLst>
              <a:ext uri="{FF2B5EF4-FFF2-40B4-BE49-F238E27FC236}">
                <a16:creationId xmlns:a16="http://schemas.microsoft.com/office/drawing/2014/main" xmlns="" id="{EB01D258-3773-51C5-8E54-0620DE9AFA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407759364"/>
              </p:ext>
            </p:extLst>
          </p:nvPr>
        </p:nvGraphicFramePr>
        <p:xfrm>
          <a:off x="930812" y="3116032"/>
          <a:ext cx="22447347" cy="10116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xmlns="" val="3298832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245E0DC-A778-7E75-87A2-E185F83F2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quare">
            <a:extLst>
              <a:ext uri="{FF2B5EF4-FFF2-40B4-BE49-F238E27FC236}">
                <a16:creationId xmlns:a16="http://schemas.microsoft.com/office/drawing/2014/main" xmlns="" id="{5E027B4D-623A-EF78-BB7C-A7EE87718FA2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38C94443-9AB3-BF03-10C0-995107B36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Образ специалиста будущего: какие компетенции необходимы в условиях непрерывного обновления IT-технологий?…">
            <a:extLst>
              <a:ext uri="{FF2B5EF4-FFF2-40B4-BE49-F238E27FC236}">
                <a16:creationId xmlns:a16="http://schemas.microsoft.com/office/drawing/2014/main" xmlns="" id="{42488353-BDD5-DBC9-6125-EDE6609F3A05}"/>
              </a:ext>
            </a:extLst>
          </p:cNvPr>
          <p:cNvSpPr txBox="1"/>
          <p:nvPr/>
        </p:nvSpPr>
        <p:spPr>
          <a:xfrm>
            <a:off x="961293" y="3390352"/>
            <a:ext cx="22695878" cy="1755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1804370">
              <a:spcBef>
                <a:spcPts val="1700"/>
              </a:spcBef>
              <a:buSzPct val="150000"/>
              <a:defRPr sz="3256"/>
            </a:pPr>
            <a:endParaRPr lang="ru-RU" sz="3600" dirty="0"/>
          </a:p>
        </p:txBody>
      </p:sp>
      <p:sp>
        <p:nvSpPr>
          <p:cNvPr id="8" name="TextBox 7"/>
          <p:cNvSpPr txBox="1"/>
          <p:nvPr/>
        </p:nvSpPr>
        <p:spPr>
          <a:xfrm>
            <a:off x="699987" y="2133166"/>
            <a:ext cx="21672497" cy="816633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ru-RU" sz="5000" b="1" dirty="0"/>
              <a:t>Схема </a:t>
            </a:r>
            <a:r>
              <a:rPr lang="ru-RU" sz="5000" b="1" dirty="0" smtClean="0"/>
              <a:t>процесса</a:t>
            </a:r>
            <a:endParaRPr lang="en-US" sz="5000" b="1" dirty="0" smtClean="0"/>
          </a:p>
          <a:p>
            <a:pPr>
              <a:spcBef>
                <a:spcPts val="1200"/>
              </a:spcBef>
            </a:pPr>
            <a:r>
              <a:rPr lang="ru-RU" sz="3200" b="1" dirty="0"/>
              <a:t>Инициация (Сотрудник): </a:t>
            </a:r>
            <a:r>
              <a:rPr lang="ru-RU" sz="3200" dirty="0"/>
              <a:t>Создание и подача заявления</a:t>
            </a:r>
            <a:endParaRPr lang="en-US" sz="3200" dirty="0"/>
          </a:p>
          <a:p>
            <a:pPr>
              <a:spcBef>
                <a:spcPts val="1200"/>
              </a:spcBef>
            </a:pPr>
            <a:r>
              <a:rPr lang="ru-RU" sz="3200" b="1" dirty="0"/>
              <a:t>Регистрация (Администратор):</a:t>
            </a:r>
            <a:r>
              <a:rPr lang="ru-RU" sz="3200" dirty="0"/>
              <a:t> Регистрация документа в системе и присвоение стартового статуса «Черновик»</a:t>
            </a:r>
            <a:endParaRPr lang="en-US" sz="3200" dirty="0"/>
          </a:p>
          <a:p>
            <a:pPr>
              <a:spcBef>
                <a:spcPts val="1200"/>
              </a:spcBef>
            </a:pPr>
            <a:r>
              <a:rPr lang="ru-RU" sz="3200" b="1" dirty="0"/>
              <a:t>1-й этап контроля (Руководитель): </a:t>
            </a:r>
            <a:r>
              <a:rPr lang="ru-RU" sz="3200" dirty="0"/>
              <a:t>Рассмотрение </a:t>
            </a:r>
            <a:r>
              <a:rPr lang="ru-RU" sz="3200" dirty="0" smtClean="0"/>
              <a:t>заявления</a:t>
            </a:r>
            <a:endParaRPr lang="en-US" sz="3200" dirty="0" smtClean="0"/>
          </a:p>
          <a:p>
            <a:pPr>
              <a:spcBef>
                <a:spcPts val="1200"/>
              </a:spcBef>
            </a:pPr>
            <a:r>
              <a:rPr lang="ru-RU" sz="3200" b="1" dirty="0" smtClean="0"/>
              <a:t>В </a:t>
            </a:r>
            <a:r>
              <a:rPr lang="ru-RU" sz="3200" b="1" dirty="0"/>
              <a:t>случае отказа: </a:t>
            </a:r>
            <a:r>
              <a:rPr lang="ru-RU" sz="3200" dirty="0"/>
              <a:t>Сотрудник получает уведомление, процесс завершается</a:t>
            </a:r>
            <a:endParaRPr lang="en-US" sz="3200" dirty="0"/>
          </a:p>
          <a:p>
            <a:pPr>
              <a:spcBef>
                <a:spcPts val="1200"/>
              </a:spcBef>
            </a:pPr>
            <a:r>
              <a:rPr lang="ru-RU" sz="3200" b="1" dirty="0"/>
              <a:t>2-й этап контроля (HR): </a:t>
            </a:r>
            <a:r>
              <a:rPr lang="ru-RU" sz="3200" dirty="0"/>
              <a:t>Если руководитель одобрил, статус меняется на «На согласовании», и документ уходит в HR-отдел</a:t>
            </a:r>
            <a:endParaRPr lang="en-US" sz="3200" dirty="0"/>
          </a:p>
          <a:p>
            <a:pPr>
              <a:spcBef>
                <a:spcPts val="1200"/>
              </a:spcBef>
            </a:pPr>
            <a:r>
              <a:rPr lang="ru-RU" sz="3200" b="1" dirty="0"/>
              <a:t>В случае отказа HR:</a:t>
            </a:r>
            <a:r>
              <a:rPr lang="en-US" sz="3200" dirty="0"/>
              <a:t> </a:t>
            </a:r>
            <a:r>
              <a:rPr lang="ru-RU" sz="3200" dirty="0"/>
              <a:t>Сотрудник получает уведомление, процесс завершается</a:t>
            </a:r>
            <a:endParaRPr lang="en-US" sz="3200" dirty="0"/>
          </a:p>
          <a:p>
            <a:pPr>
              <a:spcBef>
                <a:spcPts val="1200"/>
              </a:spcBef>
            </a:pPr>
            <a:r>
              <a:rPr lang="ru-RU" sz="3200" b="1" dirty="0"/>
              <a:t>Финал (Администратор): </a:t>
            </a:r>
            <a:r>
              <a:rPr lang="ru-RU" sz="3200" dirty="0"/>
              <a:t>При успешном согласовании статус меняется на «Одобрено», сотрудник получает уведомление, а </a:t>
            </a:r>
            <a:r>
              <a:rPr lang="ru-RU" sz="3200" dirty="0" err="1"/>
              <a:t>логи</a:t>
            </a:r>
            <a:r>
              <a:rPr lang="ru-RU" sz="3200" dirty="0"/>
              <a:t> процесса выгружаются в </a:t>
            </a:r>
            <a:r>
              <a:rPr lang="ru-RU" sz="3200" dirty="0" smtClean="0"/>
              <a:t>CSV-формат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xmlns="" val="771023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245E0DC-A778-7E75-87A2-E185F83F2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quare">
            <a:extLst>
              <a:ext uri="{FF2B5EF4-FFF2-40B4-BE49-F238E27FC236}">
                <a16:creationId xmlns:a16="http://schemas.microsoft.com/office/drawing/2014/main" xmlns="" id="{5E027B4D-623A-EF78-BB7C-A7EE87718FA2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38C94443-9AB3-BF03-10C0-995107B36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698747" y="2123130"/>
            <a:ext cx="21595196" cy="56220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>
              <a:spcBef>
                <a:spcPts val="1200"/>
              </a:spcBef>
            </a:pPr>
            <a:r>
              <a:rPr lang="en-US" sz="5000" b="1" dirty="0"/>
              <a:t>ERD</a:t>
            </a:r>
            <a:r>
              <a:rPr lang="ru-RU" sz="5000" b="1" dirty="0"/>
              <a:t>(Структура созданной базы данных)</a:t>
            </a:r>
          </a:p>
          <a:p>
            <a:pPr>
              <a:spcBef>
                <a:spcPts val="1200"/>
              </a:spcBef>
            </a:pPr>
            <a:r>
              <a:rPr lang="ru-RU" sz="3200" b="1" dirty="0" smtClean="0"/>
              <a:t>Сотрудники</a:t>
            </a:r>
            <a:r>
              <a:rPr lang="ru-RU" sz="3200" dirty="0" smtClean="0"/>
              <a:t> — профили пользователей и данные для авторизации в </a:t>
            </a:r>
            <a:r>
              <a:rPr lang="ru-RU" sz="3200" dirty="0" err="1" smtClean="0"/>
              <a:t>Django</a:t>
            </a:r>
            <a:endParaRPr lang="en-US" sz="3200" dirty="0" smtClean="0"/>
          </a:p>
          <a:p>
            <a:pPr>
              <a:spcBef>
                <a:spcPts val="1200"/>
              </a:spcBef>
            </a:pPr>
            <a:r>
              <a:rPr lang="ru-RU" sz="3200" b="1" dirty="0" smtClean="0"/>
              <a:t>Заявления</a:t>
            </a:r>
            <a:r>
              <a:rPr lang="ru-RU" sz="3200" dirty="0" smtClean="0"/>
              <a:t> — реестр самих заявок (автор, дата, тип, текущий статус)</a:t>
            </a:r>
            <a:endParaRPr lang="en-US" sz="3200" dirty="0" smtClean="0"/>
          </a:p>
          <a:p>
            <a:pPr>
              <a:spcBef>
                <a:spcPts val="1200"/>
              </a:spcBef>
            </a:pPr>
            <a:r>
              <a:rPr lang="ru-RU" sz="3200" b="1" dirty="0" smtClean="0"/>
              <a:t>Согласующие</a:t>
            </a:r>
            <a:r>
              <a:rPr lang="ru-RU" sz="3200" dirty="0" smtClean="0"/>
              <a:t> — списки конкретных проверяющих, закрепленных за каждым заявлением</a:t>
            </a:r>
            <a:endParaRPr lang="en-US" sz="3200" dirty="0" smtClean="0"/>
          </a:p>
          <a:p>
            <a:pPr>
              <a:spcBef>
                <a:spcPts val="1200"/>
              </a:spcBef>
            </a:pPr>
            <a:r>
              <a:rPr lang="ru-RU" sz="3200" b="1" dirty="0" smtClean="0"/>
              <a:t>Маршруты согласования</a:t>
            </a:r>
            <a:r>
              <a:rPr lang="ru-RU" sz="3200" dirty="0" smtClean="0"/>
              <a:t> — шаблоны этапов, ролей и лимитов времени (SLA) для процессов</a:t>
            </a:r>
            <a:endParaRPr lang="en-US" sz="3200" dirty="0" smtClean="0"/>
          </a:p>
          <a:p>
            <a:pPr>
              <a:spcBef>
                <a:spcPts val="1200"/>
              </a:spcBef>
            </a:pPr>
            <a:r>
              <a:rPr lang="ru-RU" sz="3200" b="1" dirty="0" smtClean="0"/>
              <a:t>История согласования </a:t>
            </a:r>
            <a:r>
              <a:rPr lang="ru-RU" sz="3200" dirty="0" smtClean="0"/>
              <a:t>— лог всех изменений статусов и фактических дат отсутствия</a:t>
            </a:r>
            <a:endParaRPr lang="en-US" sz="3200" dirty="0" smtClean="0"/>
          </a:p>
          <a:p>
            <a:pPr>
              <a:spcBef>
                <a:spcPts val="1200"/>
              </a:spcBef>
            </a:pPr>
            <a:r>
              <a:rPr lang="ru-RU" sz="3200" b="1" dirty="0" smtClean="0"/>
              <a:t>Перечисления</a:t>
            </a:r>
            <a:r>
              <a:rPr lang="ru-RU" sz="3200" dirty="0" smtClean="0"/>
              <a:t> — фиксированные списки типов (Отпуск/Командировка) и статусов (Черновик/Утверждено)</a:t>
            </a:r>
          </a:p>
        </p:txBody>
      </p:sp>
    </p:spTree>
    <p:extLst>
      <p:ext uri="{BB962C8B-B14F-4D97-AF65-F5344CB8AC3E}">
        <p14:creationId xmlns:p14="http://schemas.microsoft.com/office/powerpoint/2010/main" xmlns="" val="771023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4A75E9F-191E-268A-90F0-C254D429D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quare">
            <a:extLst>
              <a:ext uri="{FF2B5EF4-FFF2-40B4-BE49-F238E27FC236}">
                <a16:creationId xmlns:a16="http://schemas.microsoft.com/office/drawing/2014/main" xmlns="" id="{035F63B0-CA08-2958-510B-7D94E445F7E4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EA3607FF-752E-9CA7-DB5A-0F3EF18339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раз специалиста будущего: какие компетенции необходимы в условиях непрерывного обновления IT-технологий?…">
            <a:extLst>
              <a:ext uri="{FF2B5EF4-FFF2-40B4-BE49-F238E27FC236}">
                <a16:creationId xmlns:a16="http://schemas.microsoft.com/office/drawing/2014/main" xmlns="" id="{B4240D1F-5E3F-FD71-F4FB-A11ED4E3D781}"/>
              </a:ext>
            </a:extLst>
          </p:cNvPr>
          <p:cNvSpPr txBox="1"/>
          <p:nvPr/>
        </p:nvSpPr>
        <p:spPr>
          <a:xfrm>
            <a:off x="741703" y="2280827"/>
            <a:ext cx="22695878" cy="529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>
              <a:spcBef>
                <a:spcPts val="1200"/>
              </a:spcBef>
            </a:pPr>
            <a:r>
              <a:rPr lang="ru-RU" sz="5400" b="1" dirty="0" smtClean="0"/>
              <a:t>Команда и </a:t>
            </a:r>
            <a:r>
              <a:rPr lang="ru-RU" sz="5400" b="1" dirty="0" smtClean="0"/>
              <a:t>роли</a:t>
            </a:r>
            <a:endParaRPr lang="en-US" sz="5400" b="1" dirty="0" smtClean="0"/>
          </a:p>
          <a:p>
            <a:pPr>
              <a:spcBef>
                <a:spcPts val="1200"/>
              </a:spcBef>
            </a:pPr>
            <a:r>
              <a:rPr lang="ru-RU" sz="4000" dirty="0" smtClean="0"/>
              <a:t>Никитинская </a:t>
            </a:r>
            <a:r>
              <a:rPr lang="ru-RU" sz="4000" dirty="0"/>
              <a:t>Алёна — управление проектом, </a:t>
            </a:r>
            <a:r>
              <a:rPr lang="en-US" sz="4000" dirty="0" smtClean="0"/>
              <a:t>backend </a:t>
            </a:r>
            <a:r>
              <a:rPr lang="ru-RU" sz="4000" dirty="0" smtClean="0"/>
              <a:t>разработка</a:t>
            </a:r>
            <a:endParaRPr lang="ru-RU" sz="4000" dirty="0"/>
          </a:p>
          <a:p>
            <a:pPr>
              <a:spcBef>
                <a:spcPts val="1200"/>
              </a:spcBef>
            </a:pPr>
            <a:r>
              <a:rPr lang="ru-RU" sz="4000" dirty="0"/>
              <a:t>Воробьев Александр — аналитика и экспорт </a:t>
            </a:r>
            <a:r>
              <a:rPr lang="ru-RU" sz="4000" dirty="0" smtClean="0"/>
              <a:t>из 1С, требования</a:t>
            </a:r>
            <a:endParaRPr lang="ru-RU" sz="4000" dirty="0"/>
          </a:p>
          <a:p>
            <a:pPr>
              <a:spcBef>
                <a:spcPts val="1200"/>
              </a:spcBef>
            </a:pPr>
            <a:r>
              <a:rPr lang="ru-RU" sz="4000" dirty="0"/>
              <a:t>Никитин Даниил — разработка в 1С</a:t>
            </a:r>
          </a:p>
          <a:p>
            <a:pPr>
              <a:spcBef>
                <a:spcPts val="1200"/>
              </a:spcBef>
            </a:pPr>
            <a:r>
              <a:rPr lang="ru-RU" sz="4000" dirty="0" smtClean="0"/>
              <a:t>Миронова </a:t>
            </a:r>
            <a:r>
              <a:rPr lang="ru-RU" sz="4000" dirty="0"/>
              <a:t>Валерия — </a:t>
            </a:r>
            <a:r>
              <a:rPr lang="en-US" sz="4000" dirty="0" smtClean="0"/>
              <a:t>frontend</a:t>
            </a:r>
            <a:r>
              <a:rPr lang="ru-RU" sz="4000" dirty="0" smtClean="0"/>
              <a:t> разработка, дизайн прототипа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xmlns="" val="42739920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8781E00-55F4-CCD1-BD35-B9AC5EDF3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ЛЮЧЕВЫЕ…">
            <a:extLst>
              <a:ext uri="{FF2B5EF4-FFF2-40B4-BE49-F238E27FC236}">
                <a16:creationId xmlns:a16="http://schemas.microsoft.com/office/drawing/2014/main" xmlns="" id="{2AFCE1F3-1A6F-745E-D1EC-BCADDD8D7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683" y="2366834"/>
            <a:ext cx="16810892" cy="912636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defTabSz="1463040">
              <a:defRPr sz="5040" spc="-50"/>
            </a:pPr>
            <a:r>
              <a:rPr lang="en-US" sz="5000" dirty="0"/>
              <a:t>RACI-</a:t>
            </a:r>
            <a:r>
              <a:rPr lang="ru-RU" sz="5000" dirty="0"/>
              <a:t>матрица</a:t>
            </a:r>
            <a:endParaRPr sz="5000" dirty="0"/>
          </a:p>
        </p:txBody>
      </p:sp>
      <p:sp>
        <p:nvSpPr>
          <p:cNvPr id="4" name="Square">
            <a:extLst>
              <a:ext uri="{FF2B5EF4-FFF2-40B4-BE49-F238E27FC236}">
                <a16:creationId xmlns:a16="http://schemas.microsoft.com/office/drawing/2014/main" xmlns="" id="{E0A8AD4B-269D-44B3-5832-D017EA80A475}"/>
              </a:ext>
            </a:extLst>
          </p:cNvPr>
          <p:cNvSpPr/>
          <p:nvPr/>
        </p:nvSpPr>
        <p:spPr>
          <a:xfrm>
            <a:off x="0" y="0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296DC37D-D341-9D81-37D8-D420E69E6B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xmlns="" id="{E3FA62EC-201D-0FD1-4484-92AC954F8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88370891"/>
              </p:ext>
            </p:extLst>
          </p:nvPr>
        </p:nvGraphicFramePr>
        <p:xfrm>
          <a:off x="3091032" y="3352800"/>
          <a:ext cx="18114849" cy="103632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7875122">
                  <a:extLst>
                    <a:ext uri="{9D8B030D-6E8A-4147-A177-3AD203B41FA5}">
                      <a16:colId xmlns:a16="http://schemas.microsoft.com/office/drawing/2014/main" xmlns="" val="4173715842"/>
                    </a:ext>
                  </a:extLst>
                </a:gridCol>
                <a:gridCol w="2477918">
                  <a:extLst>
                    <a:ext uri="{9D8B030D-6E8A-4147-A177-3AD203B41FA5}">
                      <a16:colId xmlns:a16="http://schemas.microsoft.com/office/drawing/2014/main" xmlns="" val="592942773"/>
                    </a:ext>
                  </a:extLst>
                </a:gridCol>
                <a:gridCol w="2223894">
                  <a:extLst>
                    <a:ext uri="{9D8B030D-6E8A-4147-A177-3AD203B41FA5}">
                      <a16:colId xmlns:a16="http://schemas.microsoft.com/office/drawing/2014/main" xmlns="" val="1934164458"/>
                    </a:ext>
                  </a:extLst>
                </a:gridCol>
                <a:gridCol w="2259347">
                  <a:extLst>
                    <a:ext uri="{9D8B030D-6E8A-4147-A177-3AD203B41FA5}">
                      <a16:colId xmlns:a16="http://schemas.microsoft.com/office/drawing/2014/main" xmlns="" val="301939316"/>
                    </a:ext>
                  </a:extLst>
                </a:gridCol>
                <a:gridCol w="3278568">
                  <a:extLst>
                    <a:ext uri="{9D8B030D-6E8A-4147-A177-3AD203B41FA5}">
                      <a16:colId xmlns:a16="http://schemas.microsoft.com/office/drawing/2014/main" xmlns="" val="1135637478"/>
                    </a:ext>
                  </a:extLst>
                </a:gridCol>
              </a:tblGrid>
              <a:tr h="96591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ru-RU" sz="4000" b="1" dirty="0">
                          <a:effectLst/>
                        </a:rPr>
                        <a:t>Задача</a:t>
                      </a:r>
                      <a:endParaRPr lang="ru-RU" sz="4000" b="1" dirty="0">
                        <a:effectLst/>
                        <a:latin typeface="Roboto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ru-RU" sz="4000" b="1" dirty="0">
                          <a:effectLst/>
                        </a:rPr>
                        <a:t>Роли</a:t>
                      </a:r>
                      <a:endParaRPr lang="ru-RU" sz="4000" b="1" dirty="0">
                        <a:effectLst/>
                        <a:latin typeface="Roboto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308651139"/>
                  </a:ext>
                </a:extLst>
              </a:tr>
              <a:tr h="97879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en-US" sz="3000" b="1" dirty="0">
                          <a:effectLst/>
                          <a:latin typeface="Roboto"/>
                          <a:cs typeface="Calibri" pitchFamily="34" charset="0"/>
                        </a:rPr>
                        <a:t> </a:t>
                      </a:r>
                      <a:endParaRPr lang="ru-RU" sz="3000" b="1" dirty="0">
                        <a:effectLst/>
                        <a:latin typeface="Roboto"/>
                        <a:ea typeface="Calibri" panose="020F0502020204030204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>
                          <a:effectLst/>
                        </a:rPr>
                        <a:t>TL/Backend</a:t>
                      </a:r>
                      <a:endParaRPr lang="ru-RU" sz="3000" b="0" i="1" dirty="0">
                        <a:effectLst/>
                        <a:latin typeface="Roboto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>
                          <a:effectLst/>
                        </a:rPr>
                        <a:t>Frontend</a:t>
                      </a:r>
                      <a:endParaRPr lang="ru-RU" sz="3000" b="0" i="1" dirty="0">
                        <a:effectLst/>
                        <a:latin typeface="Roboto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ru-RU" sz="3000" b="0" i="1" dirty="0">
                          <a:effectLst/>
                        </a:rPr>
                        <a:t>1С</a:t>
                      </a:r>
                      <a:endParaRPr lang="ru-RU" sz="3000" b="0" i="1" dirty="0">
                        <a:effectLst/>
                        <a:latin typeface="Roboto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ru-RU" sz="3000" b="0" i="1" dirty="0">
                          <a:effectLst/>
                        </a:rPr>
                        <a:t>Аналитик</a:t>
                      </a:r>
                      <a:endParaRPr lang="ru-RU" sz="3000" b="0" i="1" dirty="0">
                        <a:effectLst/>
                        <a:latin typeface="Roboto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468506187"/>
                  </a:ext>
                </a:extLst>
              </a:tr>
              <a:tr h="99167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ru-RU" sz="3000" b="1" dirty="0">
                          <a:effectLst/>
                          <a:latin typeface="Roboto"/>
                          <a:cs typeface="Calibri" pitchFamily="34" charset="0"/>
                        </a:rPr>
                        <a:t>Документация</a:t>
                      </a:r>
                      <a:endParaRPr lang="ru-RU" sz="3000" b="1" dirty="0">
                        <a:effectLst/>
                        <a:latin typeface="Roboto"/>
                        <a:ea typeface="Calibri" panose="020F0502020204030204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>
                          <a:effectLst/>
                          <a:latin typeface="+mn-lt"/>
                        </a:rPr>
                        <a:t>A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>
                          <a:effectLst/>
                          <a:latin typeface="+mn-lt"/>
                        </a:rPr>
                        <a:t> </a:t>
                      </a:r>
                      <a:r>
                        <a:rPr lang="en-US" sz="3000" b="0" i="1" dirty="0" smtClean="0">
                          <a:effectLst/>
                          <a:latin typeface="+mn-lt"/>
                        </a:rPr>
                        <a:t>I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>
                          <a:effectLst/>
                          <a:latin typeface="+mn-lt"/>
                        </a:rPr>
                        <a:t> </a:t>
                      </a:r>
                      <a:r>
                        <a:rPr lang="ru-RU" sz="3000" b="0" i="1" dirty="0" smtClean="0">
                          <a:effectLst/>
                          <a:latin typeface="+mn-lt"/>
                        </a:rPr>
                        <a:t>С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>
                          <a:effectLst/>
                          <a:latin typeface="+mn-lt"/>
                        </a:rPr>
                        <a:t>R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572597213"/>
                  </a:ext>
                </a:extLst>
              </a:tr>
              <a:tr h="1017431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en-US" sz="3000" b="1" dirty="0">
                          <a:effectLst/>
                          <a:latin typeface="Roboto"/>
                          <a:cs typeface="Calibri" pitchFamily="34" charset="0"/>
                        </a:rPr>
                        <a:t>UI/UX</a:t>
                      </a:r>
                      <a:endParaRPr lang="ru-RU" sz="3000" b="1" dirty="0">
                        <a:effectLst/>
                        <a:latin typeface="Roboto"/>
                        <a:ea typeface="Calibri" panose="020F0502020204030204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>
                          <a:effectLst/>
                          <a:latin typeface="+mn-lt"/>
                        </a:rPr>
                        <a:t>A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>
                          <a:effectLst/>
                          <a:latin typeface="+mn-lt"/>
                        </a:rPr>
                        <a:t>R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3358259611"/>
                  </a:ext>
                </a:extLst>
              </a:tr>
              <a:tr h="1068946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ru-RU" sz="3000" b="1" dirty="0">
                          <a:effectLst/>
                          <a:latin typeface="Roboto"/>
                          <a:cs typeface="Calibri" pitchFamily="34" charset="0"/>
                        </a:rPr>
                        <a:t>Импорт/экспорт </a:t>
                      </a:r>
                      <a:r>
                        <a:rPr lang="en-US" sz="3000" b="1" dirty="0" smtClean="0">
                          <a:effectLst/>
                          <a:latin typeface="Roboto"/>
                          <a:cs typeface="Calibri" pitchFamily="34" charset="0"/>
                        </a:rPr>
                        <a:t>CSV</a:t>
                      </a:r>
                      <a:r>
                        <a:rPr lang="ru-RU" sz="3000" b="1" dirty="0" smtClean="0">
                          <a:effectLst/>
                          <a:latin typeface="Roboto"/>
                          <a:cs typeface="Calibri" pitchFamily="34" charset="0"/>
                        </a:rPr>
                        <a:t> </a:t>
                      </a:r>
                      <a:r>
                        <a:rPr lang="ru-RU" sz="3000" b="1" dirty="0">
                          <a:effectLst/>
                          <a:latin typeface="Roboto"/>
                          <a:cs typeface="Calibri" pitchFamily="34" charset="0"/>
                        </a:rPr>
                        <a:t>в 1С</a:t>
                      </a:r>
                      <a:endParaRPr lang="ru-RU" sz="3000" b="1" dirty="0">
                        <a:effectLst/>
                        <a:latin typeface="Roboto"/>
                        <a:ea typeface="Calibri" panose="020F0502020204030204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ru-RU" sz="3000" b="0" i="1" dirty="0">
                          <a:effectLst/>
                          <a:latin typeface="+mn-lt"/>
                        </a:rPr>
                        <a:t> </a:t>
                      </a:r>
                      <a:r>
                        <a:rPr lang="ru-RU" sz="3000" b="0" i="1" dirty="0" smtClean="0">
                          <a:effectLst/>
                          <a:latin typeface="+mn-lt"/>
                        </a:rPr>
                        <a:t>С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>
                          <a:effectLst/>
                          <a:latin typeface="+mn-lt"/>
                        </a:rPr>
                        <a:t>R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>
                          <a:effectLst/>
                          <a:latin typeface="+mn-lt"/>
                        </a:rPr>
                        <a:t>A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2913906039"/>
                  </a:ext>
                </a:extLst>
              </a:tr>
              <a:tr h="108182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ru-RU" sz="3000" b="1" dirty="0">
                          <a:effectLst/>
                          <a:latin typeface="Roboto"/>
                          <a:cs typeface="Calibri" pitchFamily="34" charset="0"/>
                        </a:rPr>
                        <a:t> </a:t>
                      </a:r>
                      <a:r>
                        <a:rPr lang="ru-RU" sz="3000" b="1" i="0" u="none" strike="noStrike" cap="none" spc="0" baseline="0" dirty="0" smtClean="0">
                          <a:solidFill>
                            <a:schemeClr val="tx1"/>
                          </a:solidFill>
                          <a:uFillTx/>
                          <a:latin typeface="Roboto"/>
                          <a:ea typeface="+mn-ea"/>
                          <a:cs typeface="Calibri" pitchFamily="34" charset="0"/>
                          <a:sym typeface="Graphik"/>
                        </a:rPr>
                        <a:t>Интеграция </a:t>
                      </a:r>
                      <a:r>
                        <a:rPr lang="en-US" sz="3000" b="1" i="0" u="none" strike="noStrike" cap="none" spc="0" baseline="0" dirty="0" smtClean="0">
                          <a:solidFill>
                            <a:schemeClr val="tx1"/>
                          </a:solidFill>
                          <a:uFillTx/>
                          <a:latin typeface="Roboto"/>
                          <a:ea typeface="+mn-ea"/>
                          <a:cs typeface="Calibri" pitchFamily="34" charset="0"/>
                          <a:sym typeface="Graphik"/>
                        </a:rPr>
                        <a:t>frontend, backend</a:t>
                      </a:r>
                      <a:endParaRPr lang="ru-RU" sz="3000" b="1" dirty="0">
                        <a:effectLst/>
                        <a:latin typeface="Roboto"/>
                        <a:ea typeface="Calibri" panose="020F0502020204030204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ru-RU" sz="3000" b="0" i="1" dirty="0">
                          <a:effectLst/>
                          <a:latin typeface="+mn-lt"/>
                        </a:rPr>
                        <a:t> </a:t>
                      </a:r>
                      <a:r>
                        <a:rPr lang="en-US" sz="3000" b="0" i="1" dirty="0" smtClean="0">
                          <a:effectLst/>
                          <a:latin typeface="+mn-lt"/>
                        </a:rPr>
                        <a:t>R/A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217575299"/>
                  </a:ext>
                </a:extLst>
              </a:tr>
              <a:tr h="1056068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ru-RU" sz="3000" b="1" dirty="0" smtClean="0">
                          <a:effectLst/>
                          <a:latin typeface="Roboto"/>
                          <a:ea typeface="Calibri" panose="020F0502020204030204" pitchFamily="34" charset="0"/>
                          <a:cs typeface="Calibri" pitchFamily="34" charset="0"/>
                        </a:rPr>
                        <a:t>Анализ</a:t>
                      </a:r>
                      <a:r>
                        <a:rPr lang="ru-RU" sz="3000" b="1" baseline="0" dirty="0" smtClean="0">
                          <a:effectLst/>
                          <a:latin typeface="Roboto"/>
                          <a:ea typeface="Calibri" panose="020F0502020204030204" pitchFamily="34" charset="0"/>
                          <a:cs typeface="Calibri" pitchFamily="34" charset="0"/>
                        </a:rPr>
                        <a:t> метрик</a:t>
                      </a:r>
                      <a:endParaRPr lang="ru-RU" sz="3000" b="1" dirty="0">
                        <a:effectLst/>
                        <a:latin typeface="Roboto"/>
                        <a:ea typeface="Calibri" panose="020F0502020204030204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103031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ru-RU" sz="3000" b="1" dirty="0" smtClean="0">
                          <a:effectLst/>
                          <a:latin typeface="Roboto"/>
                          <a:ea typeface="Calibri" panose="020F0502020204030204" pitchFamily="34" charset="0"/>
                          <a:cs typeface="Calibri" pitchFamily="34" charset="0"/>
                        </a:rPr>
                        <a:t>Верстка</a:t>
                      </a:r>
                      <a:r>
                        <a:rPr lang="ru-RU" sz="3000" b="1" baseline="0" dirty="0" smtClean="0">
                          <a:effectLst/>
                          <a:latin typeface="Roboto"/>
                          <a:ea typeface="Calibri" panose="020F0502020204030204" pitchFamily="34" charset="0"/>
                          <a:cs typeface="Calibri" pitchFamily="34" charset="0"/>
                        </a:rPr>
                        <a:t> страницы</a:t>
                      </a:r>
                      <a:endParaRPr lang="ru-RU" sz="3000" b="1" dirty="0">
                        <a:effectLst/>
                        <a:latin typeface="Roboto"/>
                        <a:ea typeface="Calibri" panose="020F0502020204030204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R/A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100455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</a:pPr>
                      <a:r>
                        <a:rPr lang="ru-RU" sz="3000" b="1" dirty="0" smtClean="0">
                          <a:effectLst/>
                          <a:latin typeface="Roboto"/>
                          <a:ea typeface="Calibri" panose="020F0502020204030204" pitchFamily="34" charset="0"/>
                          <a:cs typeface="Calibri" pitchFamily="34" charset="0"/>
                        </a:rPr>
                        <a:t>Написание </a:t>
                      </a:r>
                      <a:r>
                        <a:rPr lang="en-US" sz="3000" b="1" dirty="0" smtClean="0">
                          <a:effectLst/>
                          <a:latin typeface="Roboto"/>
                          <a:ea typeface="Calibri" panose="020F0502020204030204" pitchFamily="34" charset="0"/>
                          <a:cs typeface="Calibri" pitchFamily="34" charset="0"/>
                        </a:rPr>
                        <a:t>backend</a:t>
                      </a:r>
                      <a:endParaRPr lang="ru-RU" sz="3000" b="1" dirty="0">
                        <a:effectLst/>
                        <a:latin typeface="Roboto"/>
                        <a:ea typeface="Calibri" panose="020F0502020204030204" pitchFamily="34" charset="0"/>
                        <a:cs typeface="Calibri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R/A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1000"/>
                        </a:spcAft>
                      </a:pPr>
                      <a:r>
                        <a:rPr lang="en-US" sz="3000" b="0" i="1" dirty="0" smtClean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</a:t>
                      </a:r>
                      <a:endParaRPr lang="ru-RU" sz="3000" b="0" i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370379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B5B857D-6B0A-121F-4EFC-88860A6C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ЛЮЧЕВЫЕ…">
            <a:extLst>
              <a:ext uri="{FF2B5EF4-FFF2-40B4-BE49-F238E27FC236}">
                <a16:creationId xmlns:a16="http://schemas.microsoft.com/office/drawing/2014/main" xmlns="" id="{8D58BA70-41DE-2C44-A9CE-EEDBE9FE23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6514" y="2286655"/>
            <a:ext cx="16810892" cy="99067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defTabSz="1463040">
              <a:defRPr sz="5040" spc="-50"/>
            </a:pPr>
            <a:r>
              <a:rPr lang="en-US" sz="5000" dirty="0" smtClean="0"/>
              <a:t>Roadmap </a:t>
            </a:r>
            <a:r>
              <a:rPr lang="ru-RU" sz="5000" dirty="0" smtClean="0"/>
              <a:t>проекта </a:t>
            </a:r>
            <a:endParaRPr sz="5000" dirty="0"/>
          </a:p>
        </p:txBody>
      </p:sp>
      <p:sp>
        <p:nvSpPr>
          <p:cNvPr id="4" name="Square">
            <a:extLst>
              <a:ext uri="{FF2B5EF4-FFF2-40B4-BE49-F238E27FC236}">
                <a16:creationId xmlns:a16="http://schemas.microsoft.com/office/drawing/2014/main" xmlns="" id="{51874A67-B8F1-F0FF-5D4E-24F748F58474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CA51DEA4-03EF-145E-95D6-137AC1D2DE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218" name="AutoShape 2" descr="https://mail.yandex.ru/message_part/image.png?_uid=2033631275&amp;hid=1.2.3&amp;ids=192528884070089006&amp;name=image.png&amp;yandex_class=yandex_inline_content_320.mail:2033631275.E17019708:763721987167182116645960847524_1.2.3_1925288840700890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220" name="AutoShape 4" descr="https://mail.yandex.ru/message_part/image.png?_uid=2033631275&amp;hid=1.2.3&amp;ids=192528884070089006&amp;name=image.png&amp;yandex_class=yandex_inline_content_320.mail:2033631275.E17019708:763721987167182116645960847524_1.2.3_1925288840700890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222" name="AutoShape 6" descr="https://mail.yandex.ru/message_part/image.png?_uid=2033631275&amp;hid=1.2.3&amp;ids=192528884070089006&amp;name=image.png&amp;yandex_class=yandex_inline_content_320.mail:2033631275.E17019708:763721987167182116645960847524_1.2.3_1925288840700890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224" name="AutoShape 8" descr="https://mail.yandex.ru/message_part/image.png?_uid=2033631275&amp;hid=1.2.3&amp;ids=192528884070089006&amp;name=image.png&amp;yandex_class=yandex_inline_content_320.mail:2033631275.E17019708:763721987167182116645960847524_1.2.3_1925288840700890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226" name="AutoShape 10" descr="https://mail.yandex.ru/message_part/image.png?_uid=2033631275&amp;hid=1.2.3&amp;ids=192528884070089006&amp;name=image.png&amp;yandex_class=yandex_inline_content_320.mail:2033631275.E17019708:763721987167182116645960847524_1.2.3_1925288840700890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228" name="AutoShape 12" descr="https://mail.yandex.ru/message_part/image.png?_uid=2033631275&amp;hid=1.2.3&amp;ids=192528884070089006&amp;name=image.png&amp;yandex_class=yandex_inline_content_320.mail:2033631275.E17019708:763721987167182116645960847524_1.2.3_1925288840700890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230" name="AutoShape 14" descr="https://mail.yandex.ru/message_part/image.png?_uid=2033631275&amp;hid=1.2.3&amp;ids=192528884070089006&amp;name=image.png&amp;yandex_class=yandex_inline_content_320.mail:2033631275.E17019708:763721987167182116645960847524_1.2.3_1925288840700890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232" name="AutoShape 16" descr="https://mail.yandex.ru/message_part/image.png?_uid=2033631275&amp;hid=1.2.3&amp;ids=192528884070089006&amp;name=image.png&amp;yandex_class=yandex_inline_content_320.mail:2033631275.E17019708:763721987167182116645960847524_1.2.3_19252888407008900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33" y="4590128"/>
            <a:ext cx="24336334" cy="728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881364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2B09E9-E648-0340-29D1-55A54B673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quare">
            <a:extLst>
              <a:ext uri="{FF2B5EF4-FFF2-40B4-BE49-F238E27FC236}">
                <a16:creationId xmlns:a16="http://schemas.microsoft.com/office/drawing/2014/main" xmlns="" id="{60C5EA3C-9FE3-94C3-D86A-768B5F2892A7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84703822-1A9C-E0BC-EC11-2331A608C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раз специалиста будущего: какие компетенции необходимы в условиях непрерывного обновления IT-технологий?…">
            <a:extLst>
              <a:ext uri="{FF2B5EF4-FFF2-40B4-BE49-F238E27FC236}">
                <a16:creationId xmlns:a16="http://schemas.microsoft.com/office/drawing/2014/main" xmlns="" id="{708DF579-0499-7D1E-06A2-6D2AD292BB73}"/>
              </a:ext>
            </a:extLst>
          </p:cNvPr>
          <p:cNvSpPr txBox="1"/>
          <p:nvPr/>
        </p:nvSpPr>
        <p:spPr>
          <a:xfrm>
            <a:off x="745207" y="2265148"/>
            <a:ext cx="22695878" cy="8840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Autofit/>
          </a:bodyPr>
          <a:lstStyle/>
          <a:p>
            <a:pPr marL="571500" indent="-571500" defTabSz="1804370">
              <a:spcBef>
                <a:spcPts val="1200"/>
              </a:spcBef>
              <a:buSzPct val="150000"/>
              <a:defRPr sz="3256"/>
            </a:pPr>
            <a:r>
              <a:rPr lang="ru-RU" sz="5000" b="1" dirty="0"/>
              <a:t>Технологический стек</a:t>
            </a:r>
            <a:endParaRPr lang="en-US" sz="5000" b="1" dirty="0" smtClean="0"/>
          </a:p>
          <a:p>
            <a:pPr marL="571500" indent="-571500" defTabSz="1804370">
              <a:spcBef>
                <a:spcPts val="1200"/>
              </a:spcBef>
              <a:buSzPct val="150000"/>
              <a:defRPr sz="3256"/>
            </a:pPr>
            <a:r>
              <a:rPr lang="en-US" sz="3200" b="1" dirty="0" smtClean="0"/>
              <a:t>Backend</a:t>
            </a:r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en-US" sz="3200" dirty="0" err="1" smtClean="0"/>
              <a:t>Django</a:t>
            </a:r>
            <a:r>
              <a:rPr lang="en-US" sz="3200" dirty="0" smtClean="0"/>
              <a:t>, </a:t>
            </a:r>
            <a:r>
              <a:rPr lang="en-US" sz="3200" dirty="0" err="1" smtClean="0"/>
              <a:t>SQLite</a:t>
            </a:r>
            <a:r>
              <a:rPr lang="en-US" sz="3200" dirty="0" smtClean="0"/>
              <a:t>, </a:t>
            </a:r>
            <a:r>
              <a:rPr lang="en-US" sz="3200" dirty="0" err="1" smtClean="0"/>
              <a:t>Django</a:t>
            </a:r>
            <a:r>
              <a:rPr lang="en-US" sz="3200" dirty="0" smtClean="0"/>
              <a:t> REST Framework (DRF), CSV / JSON, Mock REST API</a:t>
            </a:r>
          </a:p>
          <a:p>
            <a:pPr marL="571500" indent="-571500" defTabSz="1804370">
              <a:spcBef>
                <a:spcPts val="1200"/>
              </a:spcBef>
              <a:buSzPct val="150000"/>
              <a:defRPr sz="3256"/>
            </a:pPr>
            <a:r>
              <a:rPr lang="en-US" sz="3200" b="1" dirty="0" smtClean="0"/>
              <a:t>Frontend</a:t>
            </a:r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en-US" sz="3200" dirty="0" err="1" smtClean="0"/>
              <a:t>Figma</a:t>
            </a:r>
            <a:r>
              <a:rPr lang="en-US" sz="3200" dirty="0" smtClean="0"/>
              <a:t>, </a:t>
            </a:r>
            <a:r>
              <a:rPr lang="en-US" sz="3200" dirty="0" err="1" smtClean="0"/>
              <a:t>React,Vite</a:t>
            </a:r>
            <a:r>
              <a:rPr lang="en-US" sz="3200" dirty="0" smtClean="0"/>
              <a:t>, Mock REST API</a:t>
            </a:r>
          </a:p>
          <a:p>
            <a:pPr marL="571500" indent="-571500" defTabSz="1804370">
              <a:spcBef>
                <a:spcPts val="1200"/>
              </a:spcBef>
              <a:buSzPct val="150000"/>
              <a:defRPr sz="3256"/>
            </a:pPr>
            <a:r>
              <a:rPr lang="en-US" sz="3200" b="1" dirty="0" smtClean="0"/>
              <a:t>1C-</a:t>
            </a:r>
            <a:r>
              <a:rPr lang="ru-RU" sz="3200" b="1" dirty="0" smtClean="0"/>
              <a:t>разработчик</a:t>
            </a:r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ru-RU" sz="3200" dirty="0" smtClean="0"/>
              <a:t>1С</a:t>
            </a:r>
            <a:endParaRPr lang="ru-RU" sz="3200" b="1" dirty="0" smtClean="0"/>
          </a:p>
          <a:p>
            <a:pPr marL="571500" indent="-571500" defTabSz="1804370">
              <a:spcBef>
                <a:spcPts val="1200"/>
              </a:spcBef>
              <a:buSzPct val="150000"/>
              <a:defRPr sz="3256"/>
            </a:pPr>
            <a:r>
              <a:rPr lang="ru-RU" sz="3200" b="1" dirty="0" smtClean="0"/>
              <a:t>1С-аналитик</a:t>
            </a:r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ru-RU" sz="3200" dirty="0" smtClean="0"/>
              <a:t>1С</a:t>
            </a:r>
            <a:r>
              <a:rPr lang="en-US" sz="3200" dirty="0" smtClean="0"/>
              <a:t>, draw</a:t>
            </a:r>
            <a:r>
              <a:rPr lang="en-US" sz="3200" dirty="0"/>
              <a:t>.</a:t>
            </a:r>
            <a:r>
              <a:rPr lang="en-US" sz="3200" dirty="0" smtClean="0"/>
              <a:t>io</a:t>
            </a:r>
          </a:p>
          <a:p>
            <a:pPr marL="571500" indent="-571500" defTabSz="1804370">
              <a:spcBef>
                <a:spcPts val="1200"/>
              </a:spcBef>
              <a:buSzPct val="150000"/>
              <a:defRPr sz="3256"/>
            </a:pPr>
            <a:r>
              <a:rPr lang="ru-RU" sz="3200" b="1" dirty="0" smtClean="0"/>
              <a:t>Общие инструменты</a:t>
            </a:r>
            <a:r>
              <a:rPr lang="en-US" sz="3200" b="1" dirty="0" smtClean="0"/>
              <a:t>:</a:t>
            </a:r>
          </a:p>
          <a:p>
            <a:pPr defTabSz="1804370">
              <a:spcBef>
                <a:spcPts val="1200"/>
              </a:spcBef>
              <a:buSzPct val="150000"/>
              <a:defRPr sz="3256"/>
            </a:pPr>
            <a:r>
              <a:rPr lang="en-US" sz="3200" dirty="0" err="1" smtClean="0"/>
              <a:t>Gitverse</a:t>
            </a:r>
            <a:r>
              <a:rPr lang="en-US" sz="3200" dirty="0" smtClean="0"/>
              <a:t>, JSON-</a:t>
            </a:r>
            <a:r>
              <a:rPr lang="ru-RU" sz="3200" dirty="0" smtClean="0"/>
              <a:t>схемы</a:t>
            </a:r>
          </a:p>
        </p:txBody>
      </p:sp>
    </p:spTree>
    <p:extLst>
      <p:ext uri="{BB962C8B-B14F-4D97-AF65-F5344CB8AC3E}">
        <p14:creationId xmlns:p14="http://schemas.microsoft.com/office/powerpoint/2010/main" xmlns="" val="3964784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87F46B5-A129-9B29-E6F3-5DB36F25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ЛЮЧЕВЫЕ…">
            <a:extLst>
              <a:ext uri="{FF2B5EF4-FFF2-40B4-BE49-F238E27FC236}">
                <a16:creationId xmlns:a16="http://schemas.microsoft.com/office/drawing/2014/main" xmlns="" id="{586D0A34-E063-9064-411E-5B84517A71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6155" y="2300612"/>
            <a:ext cx="16810892" cy="983586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defTabSz="1463040">
              <a:defRPr sz="5040" spc="-50"/>
            </a:pPr>
            <a:r>
              <a:rPr lang="ru-RU" sz="5000" dirty="0"/>
              <a:t>Риски проекта</a:t>
            </a:r>
            <a:endParaRPr sz="5000" dirty="0"/>
          </a:p>
        </p:txBody>
      </p:sp>
      <p:sp>
        <p:nvSpPr>
          <p:cNvPr id="4" name="Square">
            <a:extLst>
              <a:ext uri="{FF2B5EF4-FFF2-40B4-BE49-F238E27FC236}">
                <a16:creationId xmlns:a16="http://schemas.microsoft.com/office/drawing/2014/main" xmlns="" id="{554AA8CB-62DA-7B33-0A4C-FF2D175F209E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F6F6FAE5-C690-43D2-D54B-6C82A36C9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раз специалиста будущего: какие компетенции необходимы в условиях непрерывного обновления IT-технологий?…">
            <a:extLst>
              <a:ext uri="{FF2B5EF4-FFF2-40B4-BE49-F238E27FC236}">
                <a16:creationId xmlns:a16="http://schemas.microsoft.com/office/drawing/2014/main" xmlns="" id="{6EF43A01-784D-4F4A-3283-EB1ECB97FD01}"/>
              </a:ext>
            </a:extLst>
          </p:cNvPr>
          <p:cNvSpPr txBox="1"/>
          <p:nvPr/>
        </p:nvSpPr>
        <p:spPr>
          <a:xfrm>
            <a:off x="961293" y="10419906"/>
            <a:ext cx="11230707" cy="227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1804370">
              <a:spcBef>
                <a:spcPts val="1700"/>
              </a:spcBef>
              <a:buSzPct val="150000"/>
              <a:defRPr sz="3256"/>
            </a:pPr>
            <a:endParaRPr lang="ru-RU" sz="3600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xmlns="" id="{33A32533-1F5A-348D-066E-9216D8989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93734166"/>
              </p:ext>
            </p:extLst>
          </p:nvPr>
        </p:nvGraphicFramePr>
        <p:xfrm>
          <a:off x="-2876331" y="4709777"/>
          <a:ext cx="22542193" cy="81294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8295670">
                  <a:extLst>
                    <a:ext uri="{9D8B030D-6E8A-4147-A177-3AD203B41FA5}">
                      <a16:colId xmlns:a16="http://schemas.microsoft.com/office/drawing/2014/main" xmlns="" val="3927789258"/>
                    </a:ext>
                  </a:extLst>
                </a:gridCol>
                <a:gridCol w="4748841">
                  <a:extLst>
                    <a:ext uri="{9D8B030D-6E8A-4147-A177-3AD203B41FA5}">
                      <a16:colId xmlns:a16="http://schemas.microsoft.com/office/drawing/2014/main" xmlns="" val="3312167356"/>
                    </a:ext>
                  </a:extLst>
                </a:gridCol>
                <a:gridCol w="4748841">
                  <a:extLst>
                    <a:ext uri="{9D8B030D-6E8A-4147-A177-3AD203B41FA5}">
                      <a16:colId xmlns:a16="http://schemas.microsoft.com/office/drawing/2014/main" xmlns="" val="2946052837"/>
                    </a:ext>
                  </a:extLst>
                </a:gridCol>
                <a:gridCol w="4748841">
                  <a:extLst>
                    <a:ext uri="{9D8B030D-6E8A-4147-A177-3AD203B41FA5}">
                      <a16:colId xmlns:a16="http://schemas.microsoft.com/office/drawing/2014/main" xmlns="" val="2423150193"/>
                    </a:ext>
                  </a:extLst>
                </a:gridCol>
              </a:tblGrid>
              <a:tr h="2032350">
                <a:tc>
                  <a:txBody>
                    <a:bodyPr/>
                    <a:lstStyle/>
                    <a:p>
                      <a:pPr algn="r"/>
                      <a:r>
                        <a:rPr lang="ru-RU" b="0" dirty="0"/>
                        <a:t>Высокая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i="0" u="none" strike="noStrike" cap="none" spc="0" baseline="0" dirty="0" smtClean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Graphik"/>
                        </a:rPr>
                        <a:t>Проблемы с проверкой проекта в реальном времени</a:t>
                      </a:r>
                      <a:endParaRPr lang="ru-RU" sz="4000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24844606"/>
                  </a:ext>
                </a:extLst>
              </a:tr>
              <a:tr h="2032350">
                <a:tc>
                  <a:txBody>
                    <a:bodyPr/>
                    <a:lstStyle/>
                    <a:p>
                      <a:pPr algn="r"/>
                      <a:r>
                        <a:rPr lang="ru-RU" b="0" dirty="0"/>
                        <a:t>Средняя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i="0" u="none" strike="noStrike" cap="none" spc="0" baseline="0" dirty="0" smtClean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Graphik"/>
                        </a:rPr>
                        <a:t>Проблема интеграции 1С</a:t>
                      </a:r>
                      <a:endParaRPr lang="ru-RU" b="1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2000" b="1" i="0" u="none" strike="noStrike" cap="none" spc="0" baseline="0" dirty="0" err="1" smtClean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Graphik"/>
                        </a:rPr>
                        <a:t>Неккоректно</a:t>
                      </a:r>
                      <a:r>
                        <a:rPr lang="ru-RU" sz="2000" b="1" i="0" u="none" strike="noStrike" cap="none" spc="0" baseline="0" dirty="0" smtClean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Graphik"/>
                        </a:rPr>
                        <a:t> определены  функциональные границы в рамках ролей руководителей/</a:t>
                      </a:r>
                      <a:r>
                        <a:rPr lang="ru-RU" sz="2000" b="1" i="0" u="none" strike="noStrike" cap="none" spc="0" baseline="0" dirty="0" err="1" smtClean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Graphik"/>
                        </a:rPr>
                        <a:t>hr</a:t>
                      </a:r>
                      <a:r>
                        <a:rPr lang="ru-RU" sz="2000" b="1" i="0" u="none" strike="noStrike" cap="none" spc="0" baseline="0" dirty="0" smtClean="0">
                          <a:solidFill>
                            <a:schemeClr val="tx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Graphik"/>
                        </a:rPr>
                        <a:t>/менеджеров </a:t>
                      </a:r>
                      <a:endParaRPr lang="ru-RU" b="1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799125825"/>
                  </a:ext>
                </a:extLst>
              </a:tr>
              <a:tr h="2032350">
                <a:tc>
                  <a:txBody>
                    <a:bodyPr/>
                    <a:lstStyle/>
                    <a:p>
                      <a:pPr algn="r"/>
                      <a:r>
                        <a:rPr lang="ru-RU" b="0" dirty="0"/>
                        <a:t>Низкая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b="1" dirty="0"/>
                    </a:p>
                  </a:txBody>
                  <a:tcPr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928856935"/>
                  </a:ext>
                </a:extLst>
              </a:tr>
              <a:tr h="203235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Низкие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Средние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Высокие</a:t>
                      </a: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425155869"/>
                  </a:ext>
                </a:extLst>
              </a:tr>
            </a:tbl>
          </a:graphicData>
        </a:graphic>
      </p:graphicFrame>
      <p:sp>
        <p:nvSpPr>
          <p:cNvPr id="8" name="КЛЮЧЕВЫЕ…">
            <a:extLst>
              <a:ext uri="{FF2B5EF4-FFF2-40B4-BE49-F238E27FC236}">
                <a16:creationId xmlns:a16="http://schemas.microsoft.com/office/drawing/2014/main" xmlns="" id="{8D6B314B-6EB1-9176-F600-A13DBA5E6BFD}"/>
              </a:ext>
            </a:extLst>
          </p:cNvPr>
          <p:cNvSpPr txBox="1">
            <a:spLocks/>
          </p:cNvSpPr>
          <p:nvPr/>
        </p:nvSpPr>
        <p:spPr>
          <a:xfrm>
            <a:off x="9871562" y="2964282"/>
            <a:ext cx="5413245" cy="11292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 fontScale="92500"/>
          </a:bodyPr>
          <a:lstStyle>
            <a:lvl1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1pPr>
            <a:lvl2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2pPr>
            <a:lvl3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3pPr>
            <a:lvl4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4pPr>
            <a:lvl5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5pPr>
            <a:lvl6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6pPr>
            <a:lvl7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7pPr>
            <a:lvl8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8pPr>
            <a:lvl9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9pPr>
          </a:lstStyle>
          <a:p>
            <a:pPr defTabSz="1463040" hangingPunct="1">
              <a:defRPr sz="5040" spc="-50"/>
            </a:pPr>
            <a:r>
              <a:rPr lang="ru-RU" sz="5400" spc="-50" dirty="0"/>
              <a:t>Матрица рисков</a:t>
            </a:r>
            <a:endParaRPr lang="ru-RU" sz="5040" spc="-50" dirty="0"/>
          </a:p>
        </p:txBody>
      </p:sp>
      <p:sp>
        <p:nvSpPr>
          <p:cNvPr id="9" name="КЛЮЧЕВЫЕ…">
            <a:extLst>
              <a:ext uri="{FF2B5EF4-FFF2-40B4-BE49-F238E27FC236}">
                <a16:creationId xmlns:a16="http://schemas.microsoft.com/office/drawing/2014/main" xmlns="" id="{1C136E44-5E49-ABA1-900C-DB6F640D5699}"/>
              </a:ext>
            </a:extLst>
          </p:cNvPr>
          <p:cNvSpPr txBox="1">
            <a:spLocks/>
          </p:cNvSpPr>
          <p:nvPr/>
        </p:nvSpPr>
        <p:spPr>
          <a:xfrm>
            <a:off x="961292" y="8622795"/>
            <a:ext cx="5413245" cy="1510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rmAutofit/>
          </a:bodyPr>
          <a:lstStyle>
            <a:lvl1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1pPr>
            <a:lvl2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2pPr>
            <a:lvl3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3pPr>
            <a:lvl4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4pPr>
            <a:lvl5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5pPr>
            <a:lvl6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6pPr>
            <a:lvl7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7pPr>
            <a:lvl8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8pPr>
            <a:lvl9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9pPr>
          </a:lstStyle>
          <a:p>
            <a:pPr defTabSz="1463040" hangingPunct="1">
              <a:defRPr sz="5040" spc="-50"/>
            </a:pPr>
            <a:endParaRPr lang="ru-RU" sz="5040" spc="-50" dirty="0"/>
          </a:p>
        </p:txBody>
      </p:sp>
      <p:sp>
        <p:nvSpPr>
          <p:cNvPr id="10" name="КЛЮЧЕВЫЕ…">
            <a:extLst>
              <a:ext uri="{FF2B5EF4-FFF2-40B4-BE49-F238E27FC236}">
                <a16:creationId xmlns:a16="http://schemas.microsoft.com/office/drawing/2014/main" xmlns="" id="{E775D2EE-F0D2-DF3B-130B-B1CF36E50D25}"/>
              </a:ext>
            </a:extLst>
          </p:cNvPr>
          <p:cNvSpPr txBox="1">
            <a:spLocks/>
          </p:cNvSpPr>
          <p:nvPr/>
        </p:nvSpPr>
        <p:spPr>
          <a:xfrm rot="16200000">
            <a:off x="1122805" y="7138446"/>
            <a:ext cx="4278135" cy="640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1pPr>
            <a:lvl2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2pPr>
            <a:lvl3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3pPr>
            <a:lvl4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4pPr>
            <a:lvl5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5pPr>
            <a:lvl6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6pPr>
            <a:lvl7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7pPr>
            <a:lvl8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8pPr>
            <a:lvl9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9pPr>
          </a:lstStyle>
          <a:p>
            <a:pPr defTabSz="1463040" hangingPunct="1">
              <a:defRPr sz="5040" spc="-50"/>
            </a:pPr>
            <a:r>
              <a:rPr lang="ru-RU" sz="5000" spc="-50" dirty="0"/>
              <a:t>Вероятность</a:t>
            </a:r>
          </a:p>
        </p:txBody>
      </p:sp>
      <p:sp>
        <p:nvSpPr>
          <p:cNvPr id="11" name="КЛЮЧЕВЫЕ…">
            <a:extLst>
              <a:ext uri="{FF2B5EF4-FFF2-40B4-BE49-F238E27FC236}">
                <a16:creationId xmlns:a16="http://schemas.microsoft.com/office/drawing/2014/main" xmlns="" id="{8682D474-F660-50E1-C7B1-6D4272EC7A89}"/>
              </a:ext>
            </a:extLst>
          </p:cNvPr>
          <p:cNvSpPr txBox="1">
            <a:spLocks/>
          </p:cNvSpPr>
          <p:nvPr/>
        </p:nvSpPr>
        <p:spPr>
          <a:xfrm>
            <a:off x="10724370" y="12198242"/>
            <a:ext cx="4306863" cy="640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b">
            <a:noAutofit/>
          </a:bodyPr>
          <a:lstStyle>
            <a:lvl1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1pPr>
            <a:lvl2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2pPr>
            <a:lvl3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3pPr>
            <a:lvl4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4pPr>
            <a:lvl5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5pPr>
            <a:lvl6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6pPr>
            <a:lvl7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7pPr>
            <a:lvl8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8pPr>
            <a:lvl9pPr marL="0" marR="0" indent="0" algn="l" defTabSz="2438400" rtl="0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1" i="0" u="none" strike="noStrike" cap="none" spc="-84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9pPr>
          </a:lstStyle>
          <a:p>
            <a:pPr defTabSz="1463040" hangingPunct="1">
              <a:defRPr sz="5040" spc="-50"/>
            </a:pPr>
            <a:r>
              <a:rPr lang="ru-RU" sz="5000" spc="-50" dirty="0"/>
              <a:t>Последствия</a:t>
            </a:r>
          </a:p>
        </p:txBody>
      </p:sp>
    </p:spTree>
    <p:extLst>
      <p:ext uri="{BB962C8B-B14F-4D97-AF65-F5344CB8AC3E}">
        <p14:creationId xmlns:p14="http://schemas.microsoft.com/office/powerpoint/2010/main" xmlns="" val="739734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2C399A-F684-1719-EDA4-A9D82CFD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ЛЮЧЕВЫЕ…">
            <a:extLst>
              <a:ext uri="{FF2B5EF4-FFF2-40B4-BE49-F238E27FC236}">
                <a16:creationId xmlns:a16="http://schemas.microsoft.com/office/drawing/2014/main" xmlns="" id="{BC27988D-18E4-5D67-D41A-84D287089B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912" y="2270844"/>
            <a:ext cx="16810892" cy="999133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defTabSz="1463040">
              <a:defRPr sz="5040" spc="-50"/>
            </a:pPr>
            <a:r>
              <a:rPr lang="ru-RU" sz="5000" dirty="0" smtClean="0"/>
              <a:t>Аналитика на 1С</a:t>
            </a:r>
            <a:endParaRPr sz="5000" dirty="0"/>
          </a:p>
        </p:txBody>
      </p:sp>
      <p:sp>
        <p:nvSpPr>
          <p:cNvPr id="4" name="Square">
            <a:extLst>
              <a:ext uri="{FF2B5EF4-FFF2-40B4-BE49-F238E27FC236}">
                <a16:creationId xmlns:a16="http://schemas.microsoft.com/office/drawing/2014/main" xmlns="" id="{F0D3AB45-3710-40F7-F85B-E5CDC7A8CD9B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06D747D1-579D-4431-857F-EBF389ED9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раз специалиста будущего: какие компетенции необходимы в условиях непрерывного обновления IT-технологий?…">
            <a:extLst>
              <a:ext uri="{FF2B5EF4-FFF2-40B4-BE49-F238E27FC236}">
                <a16:creationId xmlns:a16="http://schemas.microsoft.com/office/drawing/2014/main" xmlns="" id="{6114A9D0-6A95-DECD-E191-499C3CA7D94C}"/>
              </a:ext>
            </a:extLst>
          </p:cNvPr>
          <p:cNvSpPr txBox="1"/>
          <p:nvPr/>
        </p:nvSpPr>
        <p:spPr>
          <a:xfrm>
            <a:off x="961293" y="3563772"/>
            <a:ext cx="22695878" cy="7348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1804370">
              <a:spcBef>
                <a:spcPts val="1700"/>
              </a:spcBef>
              <a:buSzPct val="150000"/>
              <a:defRPr sz="3256"/>
            </a:pPr>
            <a:endParaRPr lang="ru-RU" sz="3600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27212" y="3211740"/>
            <a:ext cx="16897209" cy="970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536671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72C399A-F684-1719-EDA4-A9D82CFDF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КЛЮЧЕВЫЕ…">
            <a:extLst>
              <a:ext uri="{FF2B5EF4-FFF2-40B4-BE49-F238E27FC236}">
                <a16:creationId xmlns:a16="http://schemas.microsoft.com/office/drawing/2014/main" xmlns="" id="{BC27988D-18E4-5D67-D41A-84D287089B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7912" y="2270844"/>
            <a:ext cx="16810892" cy="999133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defTabSz="1463040">
              <a:defRPr sz="5040" spc="-50"/>
            </a:pPr>
            <a:r>
              <a:rPr lang="ru-RU" sz="5000" dirty="0"/>
              <a:t>Макеты экранов</a:t>
            </a:r>
            <a:endParaRPr sz="5000" dirty="0"/>
          </a:p>
        </p:txBody>
      </p:sp>
      <p:sp>
        <p:nvSpPr>
          <p:cNvPr id="4" name="Square">
            <a:extLst>
              <a:ext uri="{FF2B5EF4-FFF2-40B4-BE49-F238E27FC236}">
                <a16:creationId xmlns:a16="http://schemas.microsoft.com/office/drawing/2014/main" xmlns="" id="{F0D3AB45-3710-40F7-F85B-E5CDC7A8CD9B}"/>
              </a:ext>
            </a:extLst>
          </p:cNvPr>
          <p:cNvSpPr/>
          <p:nvPr/>
        </p:nvSpPr>
        <p:spPr>
          <a:xfrm>
            <a:off x="0" y="-64944"/>
            <a:ext cx="24384000" cy="1755487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xmlns="" id="{06D747D1-579D-4431-857F-EBF389ED9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007943" y="65219"/>
            <a:ext cx="2133936" cy="1495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Образ специалиста будущего: какие компетенции необходимы в условиях непрерывного обновления IT-технологий?…">
            <a:extLst>
              <a:ext uri="{FF2B5EF4-FFF2-40B4-BE49-F238E27FC236}">
                <a16:creationId xmlns:a16="http://schemas.microsoft.com/office/drawing/2014/main" xmlns="" id="{6114A9D0-6A95-DECD-E191-499C3CA7D94C}"/>
              </a:ext>
            </a:extLst>
          </p:cNvPr>
          <p:cNvSpPr txBox="1"/>
          <p:nvPr/>
        </p:nvSpPr>
        <p:spPr>
          <a:xfrm>
            <a:off x="961293" y="3563772"/>
            <a:ext cx="22695878" cy="7348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pPr defTabSz="1804370">
              <a:spcBef>
                <a:spcPts val="1700"/>
              </a:spcBef>
              <a:buSzPct val="150000"/>
              <a:defRPr sz="3256"/>
            </a:pPr>
            <a:endParaRPr lang="ru-RU" sz="3600" dirty="0">
              <a:solidFill>
                <a:srgbClr val="FF0000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24BC8CF8-A293-AF85-59A0-A656B2E55B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55" r="-231"/>
          <a:stretch>
            <a:fillRect/>
          </a:stretch>
        </p:blipFill>
        <p:spPr>
          <a:xfrm>
            <a:off x="9433489" y="3638939"/>
            <a:ext cx="8649237" cy="617686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B7618778-C700-EC47-04A6-91ABCA1731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77" r="1609"/>
          <a:stretch>
            <a:fillRect/>
          </a:stretch>
        </p:blipFill>
        <p:spPr>
          <a:xfrm>
            <a:off x="18688165" y="3900196"/>
            <a:ext cx="4358447" cy="5490167"/>
          </a:xfrm>
          <a:prstGeom prst="rect">
            <a:avLst/>
          </a:prstGeom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6166" y="3660387"/>
            <a:ext cx="8579173" cy="61544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2536671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57821F-AE49-91A6-8189-14FCFE2C6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Half Logo Left.png" descr="Half Logo Left.png">
            <a:extLst>
              <a:ext uri="{FF2B5EF4-FFF2-40B4-BE49-F238E27FC236}">
                <a16:creationId xmlns:a16="http://schemas.microsoft.com/office/drawing/2014/main" xmlns="" id="{5E3A1BEB-AE6A-664F-BBEB-806783E5D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0636" y="0"/>
            <a:ext cx="9478210" cy="13911265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Square">
            <a:extLst>
              <a:ext uri="{FF2B5EF4-FFF2-40B4-BE49-F238E27FC236}">
                <a16:creationId xmlns:a16="http://schemas.microsoft.com/office/drawing/2014/main" xmlns="" id="{EA324EAD-8707-5288-3567-5F7BA63233E6}"/>
              </a:ext>
            </a:extLst>
          </p:cNvPr>
          <p:cNvSpPr/>
          <p:nvPr/>
        </p:nvSpPr>
        <p:spPr>
          <a:xfrm>
            <a:off x="12888613" y="0"/>
            <a:ext cx="13911263" cy="13813632"/>
          </a:xfrm>
          <a:prstGeom prst="rect">
            <a:avLst/>
          </a:prstGeom>
          <a:solidFill>
            <a:srgbClr val="2F74B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11303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Graphik"/>
                <a:ea typeface="Graphik"/>
                <a:cs typeface="Graphik"/>
                <a:sym typeface="Graphik"/>
              </a:defRPr>
            </a:pP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4772B6D4-BEE0-00ED-15C4-BA9BF7B1D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5475269" y="3458354"/>
            <a:ext cx="7729137" cy="5415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Минцифры">
            <a:extLst>
              <a:ext uri="{FF2B5EF4-FFF2-40B4-BE49-F238E27FC236}">
                <a16:creationId xmlns:a16="http://schemas.microsoft.com/office/drawing/2014/main" xmlns="" id="{01FDD5AF-CA38-C157-E6EB-2FA2A25E0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502420" y="491891"/>
            <a:ext cx="4816846" cy="67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Аналитический центр">
            <a:extLst>
              <a:ext uri="{FF2B5EF4-FFF2-40B4-BE49-F238E27FC236}">
                <a16:creationId xmlns:a16="http://schemas.microsoft.com/office/drawing/2014/main" xmlns="" id="{14A60BD0-1BFA-5DEE-4E7E-9A15F9EB2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8933072" y="352008"/>
            <a:ext cx="4431310" cy="817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1С">
            <a:extLst>
              <a:ext uri="{FF2B5EF4-FFF2-40B4-BE49-F238E27FC236}">
                <a16:creationId xmlns:a16="http://schemas.microsoft.com/office/drawing/2014/main" xmlns="" id="{448A0209-810C-1CE6-61DA-1D1AD179C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3978188" y="316076"/>
            <a:ext cx="1740674" cy="848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ГЛОБАЛЬНАЯ КОНКУРЕНЦИЯ">
            <a:extLst>
              <a:ext uri="{FF2B5EF4-FFF2-40B4-BE49-F238E27FC236}">
                <a16:creationId xmlns:a16="http://schemas.microsoft.com/office/drawing/2014/main" xmlns="" id="{4E17B60E-9A20-FEF2-DD46-0BC4830C3B2F}"/>
              </a:ext>
            </a:extLst>
          </p:cNvPr>
          <p:cNvSpPr txBox="1"/>
          <p:nvPr/>
        </p:nvSpPr>
        <p:spPr>
          <a:xfrm>
            <a:off x="14095586" y="9665591"/>
            <a:ext cx="11497315" cy="2993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defTabSz="2438400">
              <a:spcBef>
                <a:spcPts val="0"/>
              </a:spcBef>
              <a:defRPr sz="8400" b="1" spc="-84">
                <a:solidFill>
                  <a:srgbClr val="2F74B9"/>
                </a:solidFill>
              </a:defRPr>
            </a:lvl1pPr>
          </a:lstStyle>
          <a:p>
            <a:pPr algn="ctr"/>
            <a:r>
              <a:rPr lang="ru-RU" sz="6000" cap="all" dirty="0">
                <a:solidFill>
                  <a:schemeClr val="bg1"/>
                </a:solidFill>
              </a:rPr>
              <a:t>Основы проектной деятельности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F4820592-7F9C-6D33-AB5D-851D49B34CF0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3044689" y="5863338"/>
            <a:ext cx="9757569" cy="20656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10000" b="1" dirty="0"/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xmlns="" val="3177369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Roboto"/>
        <a:ea typeface="Roboto"/>
        <a:cs typeface="Roboto"/>
      </a:majorFont>
      <a:minorFont>
        <a:latin typeface="Roboto"/>
        <a:ea typeface="Roboto"/>
        <a:cs typeface="Roboto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spAutoFit/>
      </a:bodyPr>
      <a:lstStyle>
        <a:defPPr marL="0" marR="0" indent="0" algn="l" defTabSz="2438338" rtl="0" fontAlgn="auto" latinLnBrk="0" hangingPunct="0">
          <a:lnSpc>
            <a:spcPct val="12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Robo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Roboto"/>
        <a:ea typeface="Roboto"/>
        <a:cs typeface="Roboto"/>
      </a:majorFont>
      <a:minorFont>
        <a:latin typeface="Roboto"/>
        <a:ea typeface="Roboto"/>
        <a:cs typeface="Roboto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spAutoFit/>
      </a:bodyPr>
      <a:lstStyle>
        <a:defPPr marL="0" marR="0" indent="0" algn="l" defTabSz="2438338" rtl="0" fontAlgn="auto" latinLnBrk="0" hangingPunct="0">
          <a:lnSpc>
            <a:spcPct val="12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Robo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Words>529</Words>
  <Application>Microsoft Office PowerPoint</Application>
  <PresentationFormat>Произвольный</PresentationFormat>
  <Paragraphs>150</Paragraphs>
  <Slides>16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23_ClassicWhite</vt:lpstr>
      <vt:lpstr>Слайд 1</vt:lpstr>
      <vt:lpstr>Цель проекта:  Создание системы согласования заявок на отпуск и командировки для сокращения времени обработки, снижения количества ошибок и повышения прозрачности статусов</vt:lpstr>
      <vt:lpstr>Слайд 3</vt:lpstr>
      <vt:lpstr>Слайд 4</vt:lpstr>
      <vt:lpstr>Слайд 5</vt:lpstr>
      <vt:lpstr>Приоритизация требований</vt:lpstr>
      <vt:lpstr>Слайд 7</vt:lpstr>
      <vt:lpstr>Слайд 8</vt:lpstr>
      <vt:lpstr>Слайд 9</vt:lpstr>
      <vt:lpstr>RACI-матрица</vt:lpstr>
      <vt:lpstr>Roadmap проекта </vt:lpstr>
      <vt:lpstr>Слайд 12</vt:lpstr>
      <vt:lpstr>Риски проекта</vt:lpstr>
      <vt:lpstr>Аналитика на 1С</vt:lpstr>
      <vt:lpstr>Макеты экранов</vt:lpstr>
      <vt:lpstr>Слайд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Aleksey</dc:creator>
  <cp:lastModifiedBy>Алёна Никитинская</cp:lastModifiedBy>
  <cp:revision>68</cp:revision>
  <dcterms:modified xsi:type="dcterms:W3CDTF">2026-06-01T20:53:37Z</dcterms:modified>
</cp:coreProperties>
</file>